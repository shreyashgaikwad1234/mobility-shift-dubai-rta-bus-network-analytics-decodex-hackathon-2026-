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1A1A2E"/>
                </a:solidFill>
                <a:latin typeface="Arial"/>
              </a:rPr>
              <a:t>Route CAGR 2022 → 2024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91-47F0-B83F-E227ACDD9D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791-47F0-B83F-E227ACDD9D1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791-47F0-B83F-E227ACDD9D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791-47F0-B83F-E227ACDD9D1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791-47F0-B83F-E227ACDD9D1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791-47F0-B83F-E227ACDD9D12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791-47F0-B83F-E227ACDD9D12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791-47F0-B83F-E227ACDD9D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R109</c:v>
                </c:pt>
                <c:pt idx="1">
                  <c:v>R106</c:v>
                </c:pt>
                <c:pt idx="2">
                  <c:v>R107</c:v>
                </c:pt>
                <c:pt idx="3">
                  <c:v>R112</c:v>
                </c:pt>
                <c:pt idx="4">
                  <c:v>R103</c:v>
                </c:pt>
                <c:pt idx="5">
                  <c:v>R105</c:v>
                </c:pt>
                <c:pt idx="6">
                  <c:v>R101</c:v>
                </c:pt>
                <c:pt idx="7">
                  <c:v>R108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11.4</c:v>
                </c:pt>
                <c:pt idx="1">
                  <c:v>11.3</c:v>
                </c:pt>
                <c:pt idx="2">
                  <c:v>11.3</c:v>
                </c:pt>
                <c:pt idx="3">
                  <c:v>11.2</c:v>
                </c:pt>
                <c:pt idx="4">
                  <c:v>11.2</c:v>
                </c:pt>
                <c:pt idx="5">
                  <c:v>11.2</c:v>
                </c:pt>
                <c:pt idx="6">
                  <c:v>10.9</c:v>
                </c:pt>
                <c:pt idx="7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791-47F0-B83F-E227ACDD9D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10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1A1A2E"/>
                </a:solidFill>
                <a:latin typeface="Arial"/>
              </a:rPr>
              <a:t>Zone Pax Share (%) — CBD_Downtown Dominates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Pax Share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FE-4F1C-B259-DD5E8293AE3A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FE-4F1C-B259-DD5E8293AE3A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FE-4F1C-B259-DD5E8293AE3A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FE-4F1C-B259-DD5E8293AE3A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FE-4F1C-B259-DD5E8293AE3A}"/>
              </c:ext>
            </c:extLst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FE-4F1C-B259-DD5E8293AE3A}"/>
              </c:ext>
            </c:extLst>
          </c:dPt>
          <c:dPt>
            <c:idx val="6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9FE-4F1C-B259-DD5E8293AE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 baseline="0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CBD_Downtown</c:v>
                </c:pt>
                <c:pt idx="1">
                  <c:v>Res_AlQusais</c:v>
                </c:pt>
                <c:pt idx="2">
                  <c:v>Core_Deira</c:v>
                </c:pt>
                <c:pt idx="3">
                  <c:v>Res_IntCity</c:v>
                </c:pt>
                <c:pt idx="4">
                  <c:v>Coastal_Marina</c:v>
                </c:pt>
                <c:pt idx="5">
                  <c:v>CBD_BizBay</c:v>
                </c:pt>
                <c:pt idx="6">
                  <c:v>Ind_JebelAli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16</c:v>
                </c:pt>
                <c:pt idx="2">
                  <c:v>15</c:v>
                </c:pt>
                <c:pt idx="3">
                  <c:v>15</c:v>
                </c:pt>
                <c:pt idx="4">
                  <c:v>14</c:v>
                </c:pt>
                <c:pt idx="5">
                  <c:v>11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9FE-4F1C-B259-DD5E8293AE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Daily Avg Pax per Route — Stage 1 Forecast vs Q3 2025 Actual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 H1 Baseline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dLbl>
              <c:idx val="0"/>
              <c:layout>
                <c:manualLayout>
                  <c:x val="-7.3877068557919624E-3"/>
                  <c:y val="-3.63752411657714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9A-41BF-9FF3-4E2D1289882A}"/>
                </c:ext>
              </c:extLst>
            </c:dLbl>
            <c:dLbl>
              <c:idx val="1"/>
              <c:layout>
                <c:manualLayout>
                  <c:x val="-1.329787234042556E-2"/>
                  <c:y val="-7.27504823315428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9A-41BF-9FF3-4E2D1289882A}"/>
                </c:ext>
              </c:extLst>
            </c:dLbl>
            <c:dLbl>
              <c:idx val="2"/>
              <c:layout>
                <c:manualLayout>
                  <c:x val="-1.0342789598108802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9A-41BF-9FF3-4E2D1289882A}"/>
                </c:ext>
              </c:extLst>
            </c:dLbl>
            <c:dLbl>
              <c:idx val="3"/>
              <c:layout>
                <c:manualLayout>
                  <c:x val="-1.625295508274231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9A-41BF-9FF3-4E2D1289882A}"/>
                </c:ext>
              </c:extLst>
            </c:dLbl>
            <c:dLbl>
              <c:idx val="4"/>
              <c:layout>
                <c:manualLayout>
                  <c:x val="-1.034278959810874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89A-41BF-9FF3-4E2D1289882A}"/>
                </c:ext>
              </c:extLst>
            </c:dLbl>
            <c:dLbl>
              <c:idx val="5"/>
              <c:layout>
                <c:manualLayout>
                  <c:x val="-1.034278959810885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89A-41BF-9FF3-4E2D1289882A}"/>
                </c:ext>
              </c:extLst>
            </c:dLbl>
            <c:dLbl>
              <c:idx val="6"/>
              <c:layout>
                <c:manualLayout>
                  <c:x val="-1.0342789598108746E-2"/>
                  <c:y val="-3.96825396825404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9A-41BF-9FF3-4E2D1289882A}"/>
                </c:ext>
              </c:extLst>
            </c:dLbl>
            <c:dLbl>
              <c:idx val="7"/>
              <c:layout>
                <c:manualLayout>
                  <c:x val="-1.1820330969267248E-2"/>
                  <c:y val="-1.58730158730159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89A-41BF-9FF3-4E2D1289882A}"/>
                </c:ext>
              </c:extLst>
            </c:dLbl>
            <c:dLbl>
              <c:idx val="9"/>
              <c:layout>
                <c:manualLayout>
                  <c:x val="-1.3297872340425532E-2"/>
                  <c:y val="-3.968253968254040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89A-41BF-9FF3-4E2D1289882A}"/>
                </c:ext>
              </c:extLst>
            </c:dLbl>
            <c:dLbl>
              <c:idx val="10"/>
              <c:layout>
                <c:manualLayout>
                  <c:x val="-1.0342789598108746E-2"/>
                  <c:y val="-7.27504823315428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89A-41BF-9FF3-4E2D1289882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3294</c:v>
                </c:pt>
                <c:pt idx="1">
                  <c:v>2799</c:v>
                </c:pt>
                <c:pt idx="2">
                  <c:v>3275</c:v>
                </c:pt>
                <c:pt idx="3">
                  <c:v>2640</c:v>
                </c:pt>
                <c:pt idx="4">
                  <c:v>2615</c:v>
                </c:pt>
                <c:pt idx="5">
                  <c:v>2587</c:v>
                </c:pt>
                <c:pt idx="6">
                  <c:v>2340</c:v>
                </c:pt>
                <c:pt idx="7">
                  <c:v>1835</c:v>
                </c:pt>
                <c:pt idx="8">
                  <c:v>2178</c:v>
                </c:pt>
                <c:pt idx="9">
                  <c:v>1900</c:v>
                </c:pt>
                <c:pt idx="10">
                  <c:v>1800</c:v>
                </c:pt>
                <c:pt idx="11">
                  <c:v>2524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9A-41BF-9FF3-4E2D128988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2025 Shock Actual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3322</c:v>
                </c:pt>
                <c:pt idx="1">
                  <c:v>2818</c:v>
                </c:pt>
                <c:pt idx="2">
                  <c:v>3362</c:v>
                </c:pt>
                <c:pt idx="3">
                  <c:v>2765</c:v>
                </c:pt>
                <c:pt idx="4">
                  <c:v>3363</c:v>
                </c:pt>
                <c:pt idx="5">
                  <c:v>3335</c:v>
                </c:pt>
                <c:pt idx="6">
                  <c:v>3094</c:v>
                </c:pt>
                <c:pt idx="7">
                  <c:v>1693</c:v>
                </c:pt>
                <c:pt idx="8">
                  <c:v>1991</c:v>
                </c:pt>
                <c:pt idx="9">
                  <c:v>1890</c:v>
                </c:pt>
                <c:pt idx="10">
                  <c:v>1869</c:v>
                </c:pt>
                <c:pt idx="11">
                  <c:v>2065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9A-41BF-9FF3-4E2D12898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1A1A2E"/>
                </a:solidFill>
                <a:latin typeface="Arial"/>
              </a:rPr>
              <a:t>Q3 Actual vs December 2025 Forecast (Recalibrated Post-Shock)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Actual</c:v>
                </c:pt>
              </c:strCache>
            </c:strRef>
          </c:tx>
          <c:spPr>
            <a:solidFill>
              <a:srgbClr val="7FB3D3"/>
            </a:solidFill>
            <a:effectLst/>
          </c:spPr>
          <c:invertIfNegative val="0"/>
          <c:dLbls>
            <c:dLbl>
              <c:idx val="0"/>
              <c:layout>
                <c:manualLayout>
                  <c:x val="-8.557135556144760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994-476A-AF1E-B04000CA9AFD}"/>
                </c:ext>
              </c:extLst>
            </c:dLbl>
            <c:dLbl>
              <c:idx val="1"/>
              <c:layout>
                <c:manualLayout>
                  <c:x val="-8.557135556144747E-3"/>
                  <c:y val="6.06196569977512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94-476A-AF1E-B04000CA9AFD}"/>
                </c:ext>
              </c:extLst>
            </c:dLbl>
            <c:dLbl>
              <c:idx val="2"/>
              <c:layout>
                <c:manualLayout>
                  <c:x val="-1.2835703334217095E-2"/>
                  <c:y val="-6.06196569977518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994-476A-AF1E-B04000CA9AFD}"/>
                </c:ext>
              </c:extLst>
            </c:dLbl>
            <c:dLbl>
              <c:idx val="3"/>
              <c:layout>
                <c:manualLayout>
                  <c:x val="-1.2835703334217173E-2"/>
                  <c:y val="-6.06196569977512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994-476A-AF1E-B04000CA9AFD}"/>
                </c:ext>
              </c:extLst>
            </c:dLbl>
            <c:dLbl>
              <c:idx val="4"/>
              <c:layout>
                <c:manualLayout>
                  <c:x val="-1.1409514074859716E-2"/>
                  <c:y val="-1.21239313995503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994-476A-AF1E-B04000CA9AFD}"/>
                </c:ext>
              </c:extLst>
            </c:dLbl>
            <c:dLbl>
              <c:idx val="5"/>
              <c:layout>
                <c:manualLayout>
                  <c:x val="-1.2835703334217121E-2"/>
                  <c:y val="-6.06196569977518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994-476A-AF1E-B04000CA9AFD}"/>
                </c:ext>
              </c:extLst>
            </c:dLbl>
            <c:dLbl>
              <c:idx val="6"/>
              <c:layout>
                <c:manualLayout>
                  <c:x val="-8.557135556144747E-3"/>
                  <c:y val="-5.556737699552504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994-476A-AF1E-B04000CA9AFD}"/>
                </c:ext>
              </c:extLst>
            </c:dLbl>
            <c:dLbl>
              <c:idx val="7"/>
              <c:layout>
                <c:manualLayout>
                  <c:x val="-1.1409514074859663E-2"/>
                  <c:y val="-1.21239313995504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994-476A-AF1E-B04000CA9AFD}"/>
                </c:ext>
              </c:extLst>
            </c:dLbl>
            <c:dLbl>
              <c:idx val="8"/>
              <c:layout>
                <c:manualLayout>
                  <c:x val="-1.1409514074859663E-2"/>
                  <c:y val="-1.8185897099325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994-476A-AF1E-B04000CA9AFD}"/>
                </c:ext>
              </c:extLst>
            </c:dLbl>
            <c:dLbl>
              <c:idx val="9"/>
              <c:layout>
                <c:manualLayout>
                  <c:x val="-8.55713555614474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994-476A-AF1E-B04000CA9AFD}"/>
                </c:ext>
              </c:extLst>
            </c:dLbl>
            <c:dLbl>
              <c:idx val="10"/>
              <c:layout>
                <c:manualLayout>
                  <c:x val="-5.704757037429831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994-476A-AF1E-B04000CA9AFD}"/>
                </c:ext>
              </c:extLst>
            </c:dLbl>
            <c:dLbl>
              <c:idx val="11"/>
              <c:layout>
                <c:manualLayout>
                  <c:x val="-1.1409514074859559E-2"/>
                  <c:y val="-6.06196569977518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994-476A-AF1E-B04000CA9AF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3322</c:v>
                </c:pt>
                <c:pt idx="1">
                  <c:v>2818</c:v>
                </c:pt>
                <c:pt idx="2">
                  <c:v>3362</c:v>
                </c:pt>
                <c:pt idx="3">
                  <c:v>2765</c:v>
                </c:pt>
                <c:pt idx="4">
                  <c:v>3363</c:v>
                </c:pt>
                <c:pt idx="5">
                  <c:v>3335</c:v>
                </c:pt>
                <c:pt idx="6">
                  <c:v>3094</c:v>
                </c:pt>
                <c:pt idx="7">
                  <c:v>1693</c:v>
                </c:pt>
                <c:pt idx="8">
                  <c:v>1991</c:v>
                </c:pt>
                <c:pt idx="9">
                  <c:v>1890</c:v>
                </c:pt>
                <c:pt idx="10">
                  <c:v>1869</c:v>
                </c:pt>
                <c:pt idx="11">
                  <c:v>2065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4-476A-AF1E-B04000CA9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 2025 Forecast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3764</c:v>
                </c:pt>
                <c:pt idx="1">
                  <c:v>3193</c:v>
                </c:pt>
                <c:pt idx="2">
                  <c:v>3809</c:v>
                </c:pt>
                <c:pt idx="3">
                  <c:v>3133</c:v>
                </c:pt>
                <c:pt idx="4">
                  <c:v>3811</c:v>
                </c:pt>
                <c:pt idx="5">
                  <c:v>3779</c:v>
                </c:pt>
                <c:pt idx="6">
                  <c:v>3505</c:v>
                </c:pt>
                <c:pt idx="7">
                  <c:v>1918</c:v>
                </c:pt>
                <c:pt idx="8">
                  <c:v>2255</c:v>
                </c:pt>
                <c:pt idx="9">
                  <c:v>2141</c:v>
                </c:pt>
                <c:pt idx="10">
                  <c:v>2117</c:v>
                </c:pt>
                <c:pt idx="11">
                  <c:v>2340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94-476A-AF1E-B04000CA9A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</a:rPr>
              <a:t>Stage 2 Recalibrated Forecast vs Q4 2025 Actual Ridership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2 Recalibrated Forecast (Q3 Base)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dLbl>
              <c:idx val="0"/>
              <c:layout>
                <c:manualLayout>
                  <c:x val="-4.432624113475177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2AB-48DC-8225-DF2871387930}"/>
                </c:ext>
              </c:extLst>
            </c:dLbl>
            <c:dLbl>
              <c:idx val="1"/>
              <c:layout>
                <c:manualLayout>
                  <c:x val="-8.8652482269503553E-3"/>
                  <c:y val="5.44662309368181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AB-48DC-8225-DF2871387930}"/>
                </c:ext>
              </c:extLst>
            </c:dLbl>
            <c:dLbl>
              <c:idx val="2"/>
              <c:layout>
                <c:manualLayout>
                  <c:x val="-1.0342789598108802E-2"/>
                  <c:y val="-4.992680160007840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2AB-48DC-8225-DF2871387930}"/>
                </c:ext>
              </c:extLst>
            </c:dLbl>
            <c:dLbl>
              <c:idx val="3"/>
              <c:layout>
                <c:manualLayout>
                  <c:x val="-1.18203309692671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AB-48DC-8225-DF2871387930}"/>
                </c:ext>
              </c:extLst>
            </c:dLbl>
            <c:dLbl>
              <c:idx val="4"/>
              <c:layout>
                <c:manualLayout>
                  <c:x val="-1.4775413711583979E-2"/>
                  <c:y val="-9.985360320015680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2AB-48DC-8225-DF2871387930}"/>
                </c:ext>
              </c:extLst>
            </c:dLbl>
            <c:dLbl>
              <c:idx val="5"/>
              <c:layout>
                <c:manualLayout>
                  <c:x val="-1.182033096926719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AB-48DC-8225-DF2871387930}"/>
                </c:ext>
              </c:extLst>
            </c:dLbl>
            <c:dLbl>
              <c:idx val="6"/>
              <c:layout>
                <c:manualLayout>
                  <c:x val="-1.1820330969267248E-2"/>
                  <c:y val="5.4466230936819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2AB-48DC-8225-DF2871387930}"/>
                </c:ext>
              </c:extLst>
            </c:dLbl>
            <c:dLbl>
              <c:idx val="7"/>
              <c:layout>
                <c:manualLayout>
                  <c:x val="-8.8652482269504628E-3"/>
                  <c:y val="-1.08932461873639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2AB-48DC-8225-DF2871387930}"/>
                </c:ext>
              </c:extLst>
            </c:dLbl>
            <c:dLbl>
              <c:idx val="8"/>
              <c:layout>
                <c:manualLayout>
                  <c:x val="-8.8652482269503553E-3"/>
                  <c:y val="-5.44662309368191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2AB-48DC-8225-DF2871387930}"/>
                </c:ext>
              </c:extLst>
            </c:dLbl>
            <c:dLbl>
              <c:idx val="9"/>
              <c:layout>
                <c:manualLayout>
                  <c:x val="-1.1820330969267139E-2"/>
                  <c:y val="-5.446623093681917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2AB-48DC-8225-DF2871387930}"/>
                </c:ext>
              </c:extLst>
            </c:dLbl>
            <c:dLbl>
              <c:idx val="10"/>
              <c:layout>
                <c:manualLayout>
                  <c:x val="-1.4775413711583925E-2"/>
                  <c:y val="-5.446623093682017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2AB-48DC-8225-DF2871387930}"/>
                </c:ext>
              </c:extLst>
            </c:dLbl>
            <c:dLbl>
              <c:idx val="11"/>
              <c:layout>
                <c:manualLayout>
                  <c:x val="-1.1820330969267139E-2"/>
                  <c:y val="-1.08932461873638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2AB-48DC-8225-DF287138793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EEEEE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3322</c:v>
                </c:pt>
                <c:pt idx="1">
                  <c:v>2818</c:v>
                </c:pt>
                <c:pt idx="2">
                  <c:v>3362</c:v>
                </c:pt>
                <c:pt idx="3">
                  <c:v>2765</c:v>
                </c:pt>
                <c:pt idx="4">
                  <c:v>3363</c:v>
                </c:pt>
                <c:pt idx="5">
                  <c:v>3335</c:v>
                </c:pt>
                <c:pt idx="6">
                  <c:v>3094</c:v>
                </c:pt>
                <c:pt idx="7">
                  <c:v>1693</c:v>
                </c:pt>
                <c:pt idx="8">
                  <c:v>1991</c:v>
                </c:pt>
                <c:pt idx="9">
                  <c:v>1890</c:v>
                </c:pt>
                <c:pt idx="10">
                  <c:v>1869</c:v>
                </c:pt>
                <c:pt idx="11">
                  <c:v>2065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B-48DC-8225-DF28713879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2025 Actual (Out-of-Time)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EEEEE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C01</c:v>
                </c:pt>
                <c:pt idx="1">
                  <c:v>C02</c:v>
                </c:pt>
                <c:pt idx="2">
                  <c:v>C03</c:v>
                </c:pt>
                <c:pt idx="3">
                  <c:v>C04</c:v>
                </c:pt>
                <c:pt idx="4">
                  <c:v>X11</c:v>
                </c:pt>
                <c:pt idx="5">
                  <c:v>X28</c:v>
                </c:pt>
                <c:pt idx="6">
                  <c:v>X66</c:v>
                </c:pt>
                <c:pt idx="7">
                  <c:v>E16</c:v>
                </c:pt>
                <c:pt idx="8">
                  <c:v>E22</c:v>
                </c:pt>
                <c:pt idx="9">
                  <c:v>F12</c:v>
                </c:pt>
                <c:pt idx="10">
                  <c:v>F18</c:v>
                </c:pt>
                <c:pt idx="11">
                  <c:v>F25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3793</c:v>
                </c:pt>
                <c:pt idx="1">
                  <c:v>3289</c:v>
                </c:pt>
                <c:pt idx="2">
                  <c:v>3849</c:v>
                </c:pt>
                <c:pt idx="3">
                  <c:v>3064</c:v>
                </c:pt>
                <c:pt idx="4">
                  <c:v>3322</c:v>
                </c:pt>
                <c:pt idx="5">
                  <c:v>3316</c:v>
                </c:pt>
                <c:pt idx="6">
                  <c:v>3048</c:v>
                </c:pt>
                <c:pt idx="7">
                  <c:v>1882</c:v>
                </c:pt>
                <c:pt idx="8">
                  <c:v>2256</c:v>
                </c:pt>
                <c:pt idx="9">
                  <c:v>2058</c:v>
                </c:pt>
                <c:pt idx="10">
                  <c:v>2151</c:v>
                </c:pt>
                <c:pt idx="11">
                  <c:v>2147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AB-48DC-8225-DF28713879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Monthly Forecast Accuracy by Route Type — Stage 2 Forecast vs Q4 Actuals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2 Forecast</c:v>
                </c:pt>
              </c:strCache>
            </c:strRef>
          </c:tx>
          <c:spPr>
            <a:solidFill>
              <a:srgbClr val="7FB3D3"/>
            </a:solidFill>
            <a:effectLst/>
          </c:spPr>
          <c:invertIfNegative val="0"/>
          <c:dLbls>
            <c:dLbl>
              <c:idx val="6"/>
              <c:layout>
                <c:manualLayout>
                  <c:x val="-1.045400238948626E-2"/>
                  <c:y val="8.818342151675484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B8-4B7C-9CB9-F6619953C9F9}"/>
                </c:ext>
              </c:extLst>
            </c:dLbl>
            <c:dLbl>
              <c:idx val="7"/>
              <c:layout>
                <c:manualLayout>
                  <c:x val="-1.4934289127837515E-2"/>
                  <c:y val="1.32275132275131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B8-4B7C-9CB9-F6619953C9F9}"/>
                </c:ext>
              </c:extLst>
            </c:dLbl>
            <c:dLbl>
              <c:idx val="8"/>
              <c:layout>
                <c:manualLayout>
                  <c:x val="-1.045400238948626E-2"/>
                  <c:y val="1.76366843033509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FB8-4B7C-9CB9-F6619953C9F9}"/>
                </c:ext>
              </c:extLst>
            </c:dLbl>
            <c:dLbl>
              <c:idx val="9"/>
              <c:layout>
                <c:manualLayout>
                  <c:x val="-1.4934289127837515E-2"/>
                  <c:y val="-8.0833869257269799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FB8-4B7C-9CB9-F6619953C9F9}"/>
                </c:ext>
              </c:extLst>
            </c:dLbl>
            <c:dLbl>
              <c:idx val="10"/>
              <c:layout>
                <c:manualLayout>
                  <c:x val="-8.9605734767025085E-3"/>
                  <c:y val="1.32275132275132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B8-4B7C-9CB9-F6619953C9F9}"/>
                </c:ext>
              </c:extLst>
            </c:dLbl>
            <c:dLbl>
              <c:idx val="11"/>
              <c:layout>
                <c:manualLayout>
                  <c:x val="-1.045400238948626E-2"/>
                  <c:y val="8.818342151675484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FB8-4B7C-9CB9-F6619953C9F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Express Oct</c:v>
                </c:pt>
                <c:pt idx="1">
                  <c:v>Express Nov</c:v>
                </c:pt>
                <c:pt idx="2">
                  <c:v>Express Dec</c:v>
                </c:pt>
                <c:pt idx="3">
                  <c:v>City Oct</c:v>
                </c:pt>
                <c:pt idx="4">
                  <c:v>City Nov</c:v>
                </c:pt>
                <c:pt idx="5">
                  <c:v>City Dec</c:v>
                </c:pt>
                <c:pt idx="6">
                  <c:v>Feeder Oct</c:v>
                </c:pt>
                <c:pt idx="7">
                  <c:v>Feeder Nov</c:v>
                </c:pt>
                <c:pt idx="8">
                  <c:v>Feeder Dec</c:v>
                </c:pt>
                <c:pt idx="9">
                  <c:v>Intercity Oct</c:v>
                </c:pt>
                <c:pt idx="10">
                  <c:v>Intercity Nov</c:v>
                </c:pt>
                <c:pt idx="11">
                  <c:v>Intercity 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3134</c:v>
                </c:pt>
                <c:pt idx="1">
                  <c:v>3499</c:v>
                </c:pt>
                <c:pt idx="2">
                  <c:v>3698</c:v>
                </c:pt>
                <c:pt idx="3">
                  <c:v>2944</c:v>
                </c:pt>
                <c:pt idx="4">
                  <c:v>3287</c:v>
                </c:pt>
                <c:pt idx="5">
                  <c:v>3475</c:v>
                </c:pt>
                <c:pt idx="6">
                  <c:v>1864</c:v>
                </c:pt>
                <c:pt idx="7">
                  <c:v>2081</c:v>
                </c:pt>
                <c:pt idx="8">
                  <c:v>2200</c:v>
                </c:pt>
                <c:pt idx="9">
                  <c:v>1768</c:v>
                </c:pt>
                <c:pt idx="10">
                  <c:v>1974</c:v>
                </c:pt>
                <c:pt idx="11">
                  <c:v>2086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D6-47B9-A9DB-167ACF0AE0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Actual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dLbl>
              <c:idx val="0"/>
              <c:layout>
                <c:manualLayout>
                  <c:x val="1.1947431302270013E-2"/>
                  <c:y val="4.4091710758377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B8-4B7C-9CB9-F6619953C9F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Express Oct</c:v>
                </c:pt>
                <c:pt idx="1">
                  <c:v>Express Nov</c:v>
                </c:pt>
                <c:pt idx="2">
                  <c:v>Express Dec</c:v>
                </c:pt>
                <c:pt idx="3">
                  <c:v>City Oct</c:v>
                </c:pt>
                <c:pt idx="4">
                  <c:v>City Nov</c:v>
                </c:pt>
                <c:pt idx="5">
                  <c:v>City Dec</c:v>
                </c:pt>
                <c:pt idx="6">
                  <c:v>Feeder Oct</c:v>
                </c:pt>
                <c:pt idx="7">
                  <c:v>Feeder Nov</c:v>
                </c:pt>
                <c:pt idx="8">
                  <c:v>Feeder Dec</c:v>
                </c:pt>
                <c:pt idx="9">
                  <c:v>Intercity Oct</c:v>
                </c:pt>
                <c:pt idx="10">
                  <c:v>Intercity Nov</c:v>
                </c:pt>
                <c:pt idx="11">
                  <c:v>Intercity 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3047</c:v>
                </c:pt>
                <c:pt idx="1">
                  <c:v>3306</c:v>
                </c:pt>
                <c:pt idx="2">
                  <c:v>3336</c:v>
                </c:pt>
                <c:pt idx="3">
                  <c:v>3261</c:v>
                </c:pt>
                <c:pt idx="4">
                  <c:v>3594</c:v>
                </c:pt>
                <c:pt idx="5">
                  <c:v>3643</c:v>
                </c:pt>
                <c:pt idx="6">
                  <c:v>1976</c:v>
                </c:pt>
                <c:pt idx="7">
                  <c:v>2117</c:v>
                </c:pt>
                <c:pt idx="8">
                  <c:v>2264</c:v>
                </c:pt>
                <c:pt idx="9">
                  <c:v>1934</c:v>
                </c:pt>
                <c:pt idx="10">
                  <c:v>2131</c:v>
                </c:pt>
                <c:pt idx="11">
                  <c:v>2144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D6-47B9-A9DB-167ACF0AE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950" b="0" i="0" u="none" strike="noStrike">
                <a:solidFill>
                  <a:srgbClr val="FFFFFF"/>
                </a:solidFill>
                <a:latin typeface="Arial"/>
              </a:rPr>
              <a:t>Monthly Avg Congestion Level (H1 2025 → Dec 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Congestion Level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H1 2025</c:v>
                </c:pt>
                <c:pt idx="1">
                  <c:v>Jul 2025</c:v>
                </c:pt>
                <c:pt idx="2">
                  <c:v>Aug 2025</c:v>
                </c:pt>
                <c:pt idx="3">
                  <c:v>Sep 2025</c:v>
                </c:pt>
                <c:pt idx="4">
                  <c:v>Oct 2025</c:v>
                </c:pt>
                <c:pt idx="5">
                  <c:v>Nov 2025</c:v>
                </c:pt>
                <c:pt idx="6">
                  <c:v>Dec 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2.5</c:v>
                </c:pt>
                <c:pt idx="1">
                  <c:v>2.74</c:v>
                </c:pt>
                <c:pt idx="2">
                  <c:v>3.06</c:v>
                </c:pt>
                <c:pt idx="3">
                  <c:v>3.47</c:v>
                </c:pt>
                <c:pt idx="4">
                  <c:v>3.06</c:v>
                </c:pt>
                <c:pt idx="5">
                  <c:v>2.63</c:v>
                </c:pt>
                <c:pt idx="6">
                  <c:v>2.77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6CD-4E52-8BF6-F9D9FD3047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2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950" b="0" i="0" u="none" strike="noStrike">
                <a:solidFill>
                  <a:srgbClr val="FFFFFF"/>
                </a:solidFill>
                <a:latin typeface="Arial"/>
              </a:rPr>
              <a:t>Avg Speed km/h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Speed km/h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H1 2025</c:v>
                </c:pt>
                <c:pt idx="1">
                  <c:v>Jul 2025</c:v>
                </c:pt>
                <c:pt idx="2">
                  <c:v>Aug 2025</c:v>
                </c:pt>
                <c:pt idx="3">
                  <c:v>Sep 2025</c:v>
                </c:pt>
                <c:pt idx="4">
                  <c:v>Oct 2025</c:v>
                </c:pt>
                <c:pt idx="5">
                  <c:v>Nov 2025</c:v>
                </c:pt>
                <c:pt idx="6">
                  <c:v>Dec 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31.17</c:v>
                </c:pt>
                <c:pt idx="2">
                  <c:v>28.71</c:v>
                </c:pt>
                <c:pt idx="3">
                  <c:v>27.54</c:v>
                </c:pt>
                <c:pt idx="4">
                  <c:v>30.01</c:v>
                </c:pt>
                <c:pt idx="5">
                  <c:v>31.74</c:v>
                </c:pt>
                <c:pt idx="6">
                  <c:v>31.24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594-4786-94C0-46A9A66B2A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24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 Case (−10%)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Express</c:v>
                </c:pt>
                <c:pt idx="1">
                  <c:v>City</c:v>
                </c:pt>
                <c:pt idx="2">
                  <c:v>Feeder</c:v>
                </c:pt>
                <c:pt idx="3">
                  <c:v>Intercity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2905</c:v>
                </c:pt>
                <c:pt idx="1">
                  <c:v>3148</c:v>
                </c:pt>
                <c:pt idx="2">
                  <c:v>1967</c:v>
                </c:pt>
                <c:pt idx="3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AB-421D-A84D-D6F176F728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Express</c:v>
                </c:pt>
                <c:pt idx="1">
                  <c:v>City</c:v>
                </c:pt>
                <c:pt idx="2">
                  <c:v>Feeder</c:v>
                </c:pt>
                <c:pt idx="3">
                  <c:v>Intercity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3228</c:v>
                </c:pt>
                <c:pt idx="1">
                  <c:v>3498</c:v>
                </c:pt>
                <c:pt idx="2">
                  <c:v>2119</c:v>
                </c:pt>
                <c:pt idx="3">
                  <c:v>2069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AB-421D-A84D-D6F176F728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 Case (+10%)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Express</c:v>
                </c:pt>
                <c:pt idx="1">
                  <c:v>City</c:v>
                </c:pt>
                <c:pt idx="2">
                  <c:v>Feeder</c:v>
                </c:pt>
                <c:pt idx="3">
                  <c:v>Intercity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3551</c:v>
                </c:pt>
                <c:pt idx="1">
                  <c:v>3848</c:v>
                </c:pt>
                <c:pt idx="2">
                  <c:v>2331</c:v>
                </c:pt>
                <c:pt idx="3">
                  <c:v>2276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AB-421D-A84D-D6F176F7287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120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3" name="LeftStripe"/>
          <p:cNvSpPr/>
          <p:nvPr/>
        </p:nvSpPr>
        <p:spPr>
          <a:xfrm>
            <a:off x="0" y="82296"/>
            <a:ext cx="9144000" cy="5061204"/>
          </a:xfrm>
          <a:prstGeom prst="rect">
            <a:avLst/>
          </a:prstGeom>
          <a:gradFill>
            <a:gsLst>
              <a:gs pos="0">
                <a:srgbClr val="0F2A30"/>
              </a:gs>
              <a:gs pos="60000">
                <a:srgbClr val="1A2E35"/>
              </a:gs>
              <a:gs pos="100000">
                <a:srgbClr val="223B45"/>
              </a:gs>
            </a:gsLst>
            <a:lin ang="10800000" scaled="0"/>
          </a:gradFill>
          <a:ln>
            <a:noFill/>
          </a:ln>
        </p:spPr>
      </p:sp>
      <p:sp>
        <p:nvSpPr>
          <p:cNvPr id="4" name="BgRect"/>
          <p:cNvSpPr/>
          <p:nvPr/>
        </p:nvSpPr>
        <p:spPr>
          <a:xfrm>
            <a:off x="5400000" y="300000"/>
            <a:ext cx="4200000" cy="4700000"/>
          </a:xfrm>
          <a:prstGeom prst="rect">
            <a:avLst/>
          </a:prstGeom>
          <a:solidFill>
            <a:srgbClr val="00A8B5">
              <a:alpha val="8000"/>
            </a:srgbClr>
          </a:solidFill>
          <a:ln>
            <a:noFill/>
          </a:ln>
        </p:spPr>
      </p:sp>
      <p:sp>
        <p:nvSpPr>
          <p:cNvPr id="5" name="RightAccent"/>
          <p:cNvSpPr/>
          <p:nvPr/>
        </p:nvSpPr>
        <p:spPr>
          <a:xfrm>
            <a:off x="7057200" y="262898"/>
            <a:ext cx="2000000" cy="4700000"/>
          </a:xfrm>
          <a:prstGeom prst="rect">
            <a:avLst/>
          </a:prstGeom>
          <a:solidFill>
            <a:srgbClr val="1A2E35">
              <a:alpha val="15000"/>
            </a:srgbClr>
          </a:solidFill>
          <a:ln>
            <a:solidFill>
              <a:srgbClr val="D4A017"/>
            </a:solidFill>
            <a:prstDash val="solid"/>
          </a:ln>
        </p:spPr>
      </p:sp>
      <p:sp>
        <p:nvSpPr>
          <p:cNvPr id="6" name="Circle1"/>
          <p:cNvSpPr/>
          <p:nvPr/>
        </p:nvSpPr>
        <p:spPr>
          <a:xfrm>
            <a:off x="5600000" y="450000"/>
            <a:ext cx="700000" cy="700000"/>
          </a:xfrm>
          <a:prstGeom prst="ellipse">
            <a:avLst/>
          </a:prstGeom>
          <a:solidFill>
            <a:srgbClr val="D4A017">
              <a:alpha val="25000"/>
            </a:srgbClr>
          </a:solidFill>
          <a:ln w="25400">
            <a:solidFill>
              <a:srgbClr val="D4A017"/>
            </a:solidFill>
          </a:ln>
        </p:spPr>
      </p:sp>
      <p:sp>
        <p:nvSpPr>
          <p:cNvPr id="7" name="Circle2"/>
          <p:cNvSpPr/>
          <p:nvPr/>
        </p:nvSpPr>
        <p:spPr>
          <a:xfrm>
            <a:off x="7900000" y="3900000"/>
            <a:ext cx="500000" cy="500000"/>
          </a:xfrm>
          <a:prstGeom prst="ellipse">
            <a:avLst/>
          </a:prstGeom>
          <a:solidFill>
            <a:srgbClr val="D4A017">
              <a:alpha val="20000"/>
            </a:srgbClr>
          </a:solidFill>
          <a:ln w="19050">
            <a:solidFill>
              <a:srgbClr val="D4A017"/>
            </a:solidFill>
          </a:ln>
        </p:spPr>
      </p:sp>
      <p:sp>
        <p:nvSpPr>
          <p:cNvPr id="8" name="OverlineLabel"/>
          <p:cNvSpPr/>
          <p:nvPr/>
        </p:nvSpPr>
        <p:spPr>
          <a:xfrm>
            <a:off x="457200" y="457200"/>
            <a:ext cx="45000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4A017"/>
                </a:solidFill>
              </a:rPr>
              <a:t>DECODE X 2026  ·  NLD SYNAPSE  ·  N.L. DALMIA INSTITUTE</a:t>
            </a:r>
          </a:p>
        </p:txBody>
      </p:sp>
      <p:sp>
        <p:nvSpPr>
          <p:cNvPr id="9" name="MainTitle"/>
          <p:cNvSpPr/>
          <p:nvPr/>
        </p:nvSpPr>
        <p:spPr>
          <a:xfrm>
            <a:off x="457200" y="700000"/>
            <a:ext cx="5200000" cy="1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</a:rPr>
              <a:t>MOBILITY </a:t>
            </a:r>
            <a:r>
              <a:rPr lang="en-US" sz="5400" b="1" kern="0" spc="100" dirty="0">
                <a:solidFill>
                  <a:srgbClr val="D4A017"/>
                </a:solidFill>
              </a:rPr>
              <a:t>SHIFT</a:t>
            </a:r>
          </a:p>
        </p:txBody>
      </p:sp>
      <p:sp>
        <p:nvSpPr>
          <p:cNvPr id="10" name="Subtitle"/>
          <p:cNvSpPr/>
          <p:nvPr/>
        </p:nvSpPr>
        <p:spPr>
          <a:xfrm>
            <a:off x="457200" y="2200000"/>
            <a:ext cx="48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0" kern="0" spc="150" dirty="0">
                <a:solidFill>
                  <a:srgbClr val="B0C4CC"/>
                </a:solidFill>
              </a:rPr>
              <a:t>Complete Case Analysis  ·  Dubai RTA Bus Network</a:t>
            </a:r>
          </a:p>
        </p:txBody>
      </p:sp>
      <p:sp>
        <p:nvSpPr>
          <p:cNvPr id="11" name="Divider"/>
          <p:cNvSpPr/>
          <p:nvPr/>
        </p:nvSpPr>
        <p:spPr>
          <a:xfrm>
            <a:off x="544001" y="2650000"/>
            <a:ext cx="3200000" cy="38100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2" name="CaseInfo"/>
          <p:cNvSpPr/>
          <p:nvPr/>
        </p:nvSpPr>
        <p:spPr>
          <a:xfrm>
            <a:off x="457200" y="2750000"/>
            <a:ext cx="4800000" cy="5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</a:rPr>
              <a:t>Case 03  ·  28 February – 1 March 2026</a:t>
            </a:r>
          </a:p>
          <a:p>
            <a:pPr marL="0" indent="0">
              <a:buNone/>
            </a:pPr>
            <a:r>
              <a:rPr lang="en-US" sz="950" b="0" kern="0" spc="100" dirty="0">
                <a:solidFill>
                  <a:srgbClr val="7FA8B5"/>
                </a:solidFill>
              </a:rPr>
              <a:t>Shreyash Ganesh Gaikwad Team</a:t>
            </a:r>
          </a:p>
        </p:txBody>
      </p:sp>
      <p:sp>
        <p:nvSpPr>
          <p:cNvPr id="13" name="Stage1Bg"/>
          <p:cNvSpPr/>
          <p:nvPr/>
        </p:nvSpPr>
        <p:spPr>
          <a:xfrm>
            <a:off x="457200" y="3500000"/>
            <a:ext cx="1600000" cy="900000"/>
          </a:xfrm>
          <a:prstGeom prst="rect">
            <a:avLst/>
          </a:prstGeom>
          <a:solidFill>
            <a:srgbClr val="0F2A30"/>
          </a:solidFill>
          <a:ln w="19050">
            <a:solidFill>
              <a:srgbClr val="D4A017"/>
            </a:solidFill>
          </a:ln>
        </p:spPr>
      </p:sp>
      <p:sp>
        <p:nvSpPr>
          <p:cNvPr id="14" name="Stage1Text"/>
          <p:cNvSpPr/>
          <p:nvPr/>
        </p:nvSpPr>
        <p:spPr>
          <a:xfrm>
            <a:off x="457200" y="3500000"/>
            <a:ext cx="16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STAGE 1</a:t>
            </a:r>
          </a:p>
          <a:p>
            <a:pPr marL="0" indent="0" algn="ctr">
              <a:buNone/>
            </a:pPr>
            <a:r>
              <a:rPr lang="en-US" sz="1400" b="0" dirty="0">
                <a:solidFill>
                  <a:srgbClr val="B0C4CC"/>
                </a:solidFill>
              </a:rPr>
              <a:t>Baseline Diagnosis</a:t>
            </a:r>
          </a:p>
        </p:txBody>
      </p:sp>
      <p:sp>
        <p:nvSpPr>
          <p:cNvPr id="15" name="Stage2Bg"/>
          <p:cNvSpPr/>
          <p:nvPr/>
        </p:nvSpPr>
        <p:spPr>
          <a:xfrm>
            <a:off x="2177200" y="3500000"/>
            <a:ext cx="1600000" cy="900000"/>
          </a:xfrm>
          <a:prstGeom prst="rect">
            <a:avLst/>
          </a:prstGeom>
          <a:solidFill>
            <a:srgbClr val="0F2A30"/>
          </a:solidFill>
          <a:ln w="19050">
            <a:solidFill>
              <a:srgbClr val="00A8B5"/>
            </a:solidFill>
          </a:ln>
        </p:spPr>
      </p:sp>
      <p:sp>
        <p:nvSpPr>
          <p:cNvPr id="16" name="Stage2Text"/>
          <p:cNvSpPr/>
          <p:nvPr/>
        </p:nvSpPr>
        <p:spPr>
          <a:xfrm>
            <a:off x="2177200" y="3500000"/>
            <a:ext cx="16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B5"/>
                </a:solidFill>
              </a:rPr>
              <a:t>STAGE 2</a:t>
            </a:r>
          </a:p>
          <a:p>
            <a:pPr marL="0" indent="0" algn="ctr">
              <a:buNone/>
            </a:pPr>
            <a:r>
              <a:rPr lang="en-US" sz="1400" b="0" dirty="0">
                <a:solidFill>
                  <a:srgbClr val="B0C4CC"/>
                </a:solidFill>
              </a:rPr>
              <a:t>Forecast &amp; Strategy</a:t>
            </a:r>
          </a:p>
        </p:txBody>
      </p:sp>
      <p:sp>
        <p:nvSpPr>
          <p:cNvPr id="17" name="Stage3Bg"/>
          <p:cNvSpPr/>
          <p:nvPr/>
        </p:nvSpPr>
        <p:spPr>
          <a:xfrm>
            <a:off x="3897200" y="3500000"/>
            <a:ext cx="1600000" cy="900000"/>
          </a:xfrm>
          <a:prstGeom prst="rect">
            <a:avLst/>
          </a:prstGeom>
          <a:solidFill>
            <a:srgbClr val="0F2A30"/>
          </a:solidFill>
          <a:ln w="19050">
            <a:solidFill>
              <a:srgbClr val="D4A017"/>
            </a:solidFill>
          </a:ln>
        </p:spPr>
      </p:sp>
      <p:sp>
        <p:nvSpPr>
          <p:cNvPr id="18" name="Stage3Text"/>
          <p:cNvSpPr/>
          <p:nvPr/>
        </p:nvSpPr>
        <p:spPr>
          <a:xfrm>
            <a:off x="3897200" y="3500000"/>
            <a:ext cx="16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STAGE 3</a:t>
            </a:r>
          </a:p>
          <a:p>
            <a:pPr marL="0" indent="0" algn="ctr">
              <a:buNone/>
            </a:pPr>
            <a:r>
              <a:rPr lang="en-US" sz="1400" b="0" dirty="0">
                <a:solidFill>
                  <a:srgbClr val="B0C4CC"/>
                </a:solidFill>
              </a:rPr>
              <a:t>Fleet Optimization</a:t>
            </a:r>
          </a:p>
        </p:txBody>
      </p:sp>
      <p:sp>
        <p:nvSpPr>
          <p:cNvPr id="19" name="StatPanel"/>
          <p:cNvSpPr/>
          <p:nvPr/>
        </p:nvSpPr>
        <p:spPr>
          <a:xfrm>
            <a:off x="5550000" y="1300000"/>
            <a:ext cx="3200000" cy="2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spc="300" dirty="0">
                <a:solidFill>
                  <a:srgbClr val="D4A017"/>
                </a:solidFill>
              </a:rPr>
              <a:t>DUBAI RTA     12 ROUTES</a:t>
            </a:r>
          </a:p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197M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B0C4CC"/>
                </a:solidFill>
              </a:rPr>
              <a:t>riders in 2025  ·  +36% since 2022</a:t>
            </a:r>
          </a:p>
        </p:txBody>
      </p:sp>
      <p:sp>
        <p:nvSpPr>
          <p:cNvPr id="20" name="BottomBar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21" name="PageNum"/>
          <p:cNvSpPr/>
          <p:nvPr/>
        </p:nvSpPr>
        <p:spPr>
          <a:xfrm>
            <a:off x="7990449" y="4900000"/>
            <a:ext cx="914400" cy="16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FA8B5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3776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PROBLEM FRAMING  :  Why This Case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472" y="868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5"/>
                </a:solidFill>
              </a:rPr>
              <a:t>The Board Mandate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261872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</a:rPr>
              <a:t>Dubai RTA's 12-route bus network carried </a:t>
            </a:r>
            <a:r>
              <a:rPr lang="en-US" sz="1150" b="1" dirty="0">
                <a:solidFill>
                  <a:srgbClr val="1A2E35"/>
                </a:solidFill>
              </a:rPr>
              <a:t>197.2 million riders in 2025 </a:t>
            </a:r>
            <a:r>
              <a:rPr lang="en-US" sz="1150" dirty="0">
                <a:solidFill>
                  <a:srgbClr val="444444"/>
                </a:solidFill>
              </a:rPr>
              <a:t>— a 36% surge from 2022. But on July 1, 2025, Metro Phase 2 launched and broke every assumption the Stage 1 model was built on. The board needed a complete re-diagnosis, recalibrated forecast, and a new fleet strategy under structural constraint.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" y="2176272"/>
            <a:ext cx="160020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2176272"/>
            <a:ext cx="1600200" cy="36576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Growth Misattribution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3017520"/>
            <a:ext cx="14904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Is +11% CAGR uniform across routes or hiding dangerous divergence?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66544" y="2176272"/>
            <a:ext cx="160020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66544" y="2176272"/>
            <a:ext cx="1600200" cy="36576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39696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Seasonal Blind Spot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3017520"/>
            <a:ext cx="14904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Static fleet vs. 40%+ seasonal demand swings between Jan and Jul.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85616" y="2176272"/>
            <a:ext cx="160020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2176272"/>
            <a:ext cx="1600200" cy="365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58768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Corridor Imbalance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017520"/>
            <a:ext cx="14904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CBD_Downtown = 29% of all Pax — unmeasured, unactioned.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04688" y="2176272"/>
            <a:ext cx="160020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2176272"/>
            <a:ext cx="160020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2578608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Metro Phase 2 Shock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3017520"/>
            <a:ext cx="14904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Express +29.8%, Feeder −23.5% in one quarter. Stage 1 obsolete.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2155170"/>
            <a:ext cx="160020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2176272"/>
            <a:ext cx="1600200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176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2578608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</a:rPr>
              <a:t>No Forward Visibility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2947181"/>
            <a:ext cx="14904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No post-Metro forecast existed. Nov–Dec 2025 peak season is approaching.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B5"/>
                </a:solidFill>
              </a:rPr>
              <a:t>STAGE 1  :  BASELINE DIAGNOSIS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2022 – H1 2025: Growth, Seasonality, Corridor &amp; Congestion Intelligence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1572768" cy="1170432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0704"/>
            <a:ext cx="1572768" cy="56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B5"/>
                </a:solidFill>
              </a:rPr>
              <a:t>+11.1%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572768" cy="32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Network CAGR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877080"/>
            <a:ext cx="1572768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2022 → 2024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0" y="987552"/>
            <a:ext cx="1572768" cy="1170432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60704"/>
            <a:ext cx="1572768" cy="56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36%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1572768"/>
            <a:ext cx="1572768" cy="32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Pax Growth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877080"/>
            <a:ext cx="1572768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2022 → 2025 YTD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49040" y="987552"/>
            <a:ext cx="1572768" cy="1170432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60704"/>
            <a:ext cx="1572768" cy="56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</a:rPr>
              <a:t>1.27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1572768" cy="32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Peak Load Ratio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1877080"/>
            <a:ext cx="1572768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Routes 101 &amp; 103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0" y="987552"/>
            <a:ext cx="1572768" cy="1170432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060704"/>
            <a:ext cx="1572768" cy="56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</a:rPr>
              <a:t>29%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1572768"/>
            <a:ext cx="1572768" cy="32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CBD_Downtown Share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1877080"/>
            <a:ext cx="1572768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Dominant corridor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23760" y="987552"/>
            <a:ext cx="1572768" cy="1170432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60704"/>
            <a:ext cx="1572768" cy="56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C842"/>
                </a:solidFill>
              </a:rPr>
              <a:t>+0.137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1572768"/>
            <a:ext cx="1572768" cy="327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Congestion Elasticity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877080"/>
            <a:ext cx="1572768" cy="234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</a:rPr>
              <a:t>r = demand correlation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5176" y="233172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</a:rPr>
              <a:t>Seasonal Index (Monthly Demand Pattern)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2670048"/>
            <a:ext cx="640080" cy="658368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D5"/>
                </a:solidFill>
              </a:rPr>
              <a:t>1.16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2416" y="2670048"/>
            <a:ext cx="640080" cy="658368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42416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D5"/>
                </a:solidFill>
              </a:rPr>
              <a:t>1.10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737360" y="2670048"/>
            <a:ext cx="640080" cy="658368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737360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D5"/>
                </a:solidFill>
              </a:rPr>
              <a:t>1.10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32304" y="2670048"/>
            <a:ext cx="640080" cy="658368"/>
          </a:xfrm>
          <a:prstGeom prst="rect">
            <a:avLst/>
          </a:prstGeom>
          <a:solidFill>
            <a:srgbClr val="1E3A4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432304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27248" y="2670048"/>
            <a:ext cx="640080" cy="658368"/>
          </a:xfrm>
          <a:prstGeom prst="rect">
            <a:avLst/>
          </a:prstGeom>
          <a:solidFill>
            <a:srgbClr val="1E3A4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27248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22192" y="2670048"/>
            <a:ext cx="640080" cy="658368"/>
          </a:xfrm>
          <a:prstGeom prst="rect">
            <a:avLst/>
          </a:prstGeom>
          <a:solidFill>
            <a:srgbClr val="8B000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Jun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22192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B3"/>
                </a:solidFill>
              </a:rPr>
              <a:t>0.90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17136" y="2670048"/>
            <a:ext cx="640080" cy="658368"/>
          </a:xfrm>
          <a:prstGeom prst="rect">
            <a:avLst/>
          </a:prstGeom>
          <a:solidFill>
            <a:srgbClr val="8B000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Jul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17136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B3"/>
                </a:solidFill>
              </a:rPr>
              <a:t>0.83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2670048"/>
            <a:ext cx="640080" cy="658368"/>
          </a:xfrm>
          <a:prstGeom prst="rect">
            <a:avLst/>
          </a:prstGeom>
          <a:solidFill>
            <a:srgbClr val="8B000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Aug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12080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B3"/>
                </a:solidFill>
              </a:rPr>
              <a:t>0.84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07024" y="2670048"/>
            <a:ext cx="640080" cy="658368"/>
          </a:xfrm>
          <a:prstGeom prst="rect">
            <a:avLst/>
          </a:prstGeom>
          <a:solidFill>
            <a:srgbClr val="1E3A4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07024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01968" y="2670048"/>
            <a:ext cx="640080" cy="658368"/>
          </a:xfrm>
          <a:prstGeom prst="rect">
            <a:avLst/>
          </a:prstGeom>
          <a:solidFill>
            <a:srgbClr val="1E3A4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01968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Oct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01968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96912" y="2670048"/>
            <a:ext cx="640080" cy="658368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96912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Nov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96912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D5"/>
                </a:solidFill>
              </a:rPr>
              <a:t>1.06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91856" y="2670048"/>
            <a:ext cx="640080" cy="658368"/>
          </a:xfrm>
          <a:prstGeom prst="rect">
            <a:avLst/>
          </a:prstGeom>
          <a:solidFill>
            <a:srgbClr val="00A8B5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91856" y="2670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991856" y="2990088"/>
            <a:ext cx="640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DFFD5"/>
                </a:solidFill>
              </a:rPr>
              <a:t>1.12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0186" y="342790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</a:rPr>
              <a:t>Weekend Drop by Route Type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41732" y="3758536"/>
            <a:ext cx="1417320" cy="594360"/>
          </a:xfrm>
          <a:prstGeom prst="rect">
            <a:avLst/>
          </a:prstGeom>
          <a:solidFill>
            <a:srgbClr val="0F2A30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86" y="3770845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City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0186" y="4006479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</a:rPr>
              <a:t>-11.3%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1668780" y="3753612"/>
            <a:ext cx="1417320" cy="594360"/>
          </a:xfrm>
          <a:prstGeom prst="rect">
            <a:avLst/>
          </a:prstGeom>
          <a:solidFill>
            <a:srgbClr val="0F2A30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77340" y="3771857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Express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623060" y="4003665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</a:rPr>
              <a:t>-13.4%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177540" y="3753612"/>
            <a:ext cx="1417320" cy="594360"/>
          </a:xfrm>
          <a:prstGeom prst="rect">
            <a:avLst/>
          </a:prstGeom>
          <a:solidFill>
            <a:srgbClr val="0F2A3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87858" y="378561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Feeder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113532" y="398568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-15.9%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673640" y="3754315"/>
            <a:ext cx="1294578" cy="594360"/>
          </a:xfrm>
          <a:prstGeom prst="rect">
            <a:avLst/>
          </a:prstGeom>
          <a:solidFill>
            <a:srgbClr val="0F2A3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27919" y="3763811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Intercity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620534" y="4003665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-16.7%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078298" y="3470148"/>
            <a:ext cx="2764302" cy="1143000"/>
          </a:xfrm>
          <a:prstGeom prst="rect">
            <a:avLst/>
          </a:prstGeom>
          <a:solidFill>
            <a:srgbClr val="0F2A30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77243" y="35112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B5"/>
                </a:solidFill>
              </a:rPr>
              <a:t>Congestion → Demand: Positive Elasticity Confirmed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73254" y="3858768"/>
            <a:ext cx="251354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Level 5 (Gridlock) produces </a:t>
            </a:r>
            <a:r>
              <a:rPr lang="en-US" sz="900" b="1" dirty="0">
                <a:solidFill>
                  <a:srgbClr val="2ECC71"/>
                </a:solidFill>
              </a:rPr>
              <a:t>+20.4% more Pax</a:t>
            </a:r>
            <a:r>
              <a:rPr lang="en-US" sz="900" dirty="0">
                <a:solidFill>
                  <a:srgbClr val="BBBBBB"/>
                </a:solidFill>
              </a:rPr>
              <a:t> than Level 1 (Free Flow). Buses absorb car overflow. Modal shift confirmed across all route types.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3776" y="48885"/>
            <a:ext cx="8229600" cy="496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STAGE 1  :  Route Performance Diagnostics &amp; Load Risk Matrix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42443336"/>
              </p:ext>
            </p:extLst>
          </p:nvPr>
        </p:nvGraphicFramePr>
        <p:xfrm>
          <a:off x="189913" y="524022"/>
          <a:ext cx="4215033" cy="2488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23643" y="4752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Load Ratio &amp; Risk Matrix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62856" y="824367"/>
            <a:ext cx="576072" cy="365760"/>
          </a:xfrm>
          <a:prstGeom prst="rect">
            <a:avLst/>
          </a:prstGeom>
          <a:solidFill>
            <a:srgbClr val="1A2E3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99432" y="83210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175504" y="832104"/>
            <a:ext cx="713232" cy="365760"/>
          </a:xfrm>
          <a:prstGeom prst="rect">
            <a:avLst/>
          </a:prstGeom>
          <a:solidFill>
            <a:srgbClr val="1A2E3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98364" y="851799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Type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16168" y="843358"/>
            <a:ext cx="804672" cy="365760"/>
          </a:xfrm>
          <a:prstGeom prst="rect">
            <a:avLst/>
          </a:prstGeom>
          <a:solidFill>
            <a:srgbClr val="1A2E3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84124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Load Ratio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739128" y="846875"/>
            <a:ext cx="850392" cy="365760"/>
          </a:xfrm>
          <a:prstGeom prst="rect">
            <a:avLst/>
          </a:prstGeom>
          <a:solidFill>
            <a:srgbClr val="1A2E3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6702552" y="851799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607808" y="841248"/>
            <a:ext cx="850392" cy="365760"/>
          </a:xfrm>
          <a:prstGeom prst="rect">
            <a:avLst/>
          </a:prstGeom>
          <a:solidFill>
            <a:srgbClr val="1A2E3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7583893" y="846875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53712" y="1257652"/>
            <a:ext cx="57607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1237" y="1293173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</a:rPr>
              <a:t>101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184648" y="1265741"/>
            <a:ext cx="71323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84648" y="1286139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City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43600" y="1266093"/>
            <a:ext cx="740664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34456" y="1293173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</a:rPr>
              <a:t>1.27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732798" y="1265741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307767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</a:rPr>
              <a:t>CRITICAL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626799" y="1257652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07808" y="1308296"/>
            <a:ext cx="777240" cy="288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49140" y="1649789"/>
            <a:ext cx="5760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9432" y="1699553"/>
            <a:ext cx="50292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</a:rPr>
              <a:t>103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72339" y="1682145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66360" y="1699553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City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16168" y="1685310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22147" y="171274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</a:rPr>
              <a:t>1.27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66560" y="1671943"/>
            <a:ext cx="8503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20840" y="1684607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017"/>
                </a:solidFill>
              </a:rPr>
              <a:t>CRITICAL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646845" y="1680914"/>
            <a:ext cx="8503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44384" y="1718281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53712" y="2068655"/>
            <a:ext cx="57607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04004" y="210874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</a:rPr>
              <a:t>102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192385" y="2084304"/>
            <a:ext cx="687207" cy="378246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0" y="2116485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City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925312" y="2083690"/>
            <a:ext cx="75895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79592" y="2174865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017"/>
                </a:solidFill>
              </a:rPr>
              <a:t>1.07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766560" y="2077442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64802" y="213855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CRITICAL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653528" y="2068655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16952" y="2159745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49140" y="2459737"/>
            <a:ext cx="5760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56877" y="2467121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</a:rPr>
              <a:t>107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207333" y="2483299"/>
            <a:ext cx="687207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58798" y="254273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City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928126" y="2488575"/>
            <a:ext cx="8046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12387" y="2502115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017"/>
                </a:solidFill>
              </a:rPr>
              <a:t>1.06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783089" y="2487872"/>
            <a:ext cx="843007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780101" y="2502115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CRITICAL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653528" y="2495610"/>
            <a:ext cx="8503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653528" y="252304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549140" y="2881063"/>
            <a:ext cx="57607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52129" y="287051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</a:rPr>
              <a:t>111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5200650" y="2887658"/>
            <a:ext cx="688086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182362" y="2906869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Express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948524" y="2886955"/>
            <a:ext cx="80467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34456" y="2857149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A838"/>
                </a:solidFill>
              </a:rPr>
              <a:t>1.02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796453" y="2886601"/>
            <a:ext cx="811355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768143" y="2881063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CRITICAL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7653528" y="2906869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591103" y="2901945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535425" y="3296412"/>
            <a:ext cx="5760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23643" y="331012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</a:rPr>
              <a:t>104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172339" y="3305556"/>
            <a:ext cx="71323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153172" y="325341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Express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961888" y="3305556"/>
            <a:ext cx="731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906673" y="33101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A838"/>
                </a:solidFill>
              </a:rPr>
              <a:t>0.99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6764802" y="3291840"/>
            <a:ext cx="8503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769022" y="328454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CRITICAL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653528" y="3310128"/>
            <a:ext cx="804672" cy="35380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646845" y="32918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Add Fleet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4523643" y="3711761"/>
            <a:ext cx="57607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535425" y="3711761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</a:rPr>
              <a:t>109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5166360" y="3723454"/>
            <a:ext cx="71323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53172" y="370332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Intercity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5929884" y="3699803"/>
            <a:ext cx="740664" cy="377718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934456" y="3739193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B5"/>
                </a:solidFill>
              </a:rPr>
              <a:t>0.70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6773595" y="3703320"/>
            <a:ext cx="850392" cy="365760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739128" y="3688021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HIGH (under)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7653528" y="3711761"/>
            <a:ext cx="786384" cy="338328"/>
          </a:xfrm>
          <a:prstGeom prst="rect">
            <a:avLst/>
          </a:prstGeom>
          <a:solidFill>
            <a:srgbClr val="F0F6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616952" y="37307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Reallocate</a:t>
            </a:r>
            <a:endParaRPr lang="en-US" sz="800" dirty="0"/>
          </a:p>
        </p:txBody>
      </p:sp>
      <p:graphicFrame>
        <p:nvGraphicFramePr>
          <p:cNvPr id="86" name="Chart 1"/>
          <p:cNvGraphicFramePr/>
          <p:nvPr>
            <p:extLst>
              <p:ext uri="{D42A27DB-BD31-4B8C-83A1-F6EECF244321}">
                <p14:modId xmlns:p14="http://schemas.microsoft.com/office/powerpoint/2010/main" val="2190010270"/>
              </p:ext>
            </p:extLst>
          </p:nvPr>
        </p:nvGraphicFramePr>
        <p:xfrm>
          <a:off x="108233" y="3102279"/>
          <a:ext cx="4163773" cy="178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7" name="Shape 83"/>
          <p:cNvSpPr/>
          <p:nvPr/>
        </p:nvSpPr>
        <p:spPr>
          <a:xfrm>
            <a:off x="4480560" y="4168257"/>
            <a:ext cx="4480560" cy="926357"/>
          </a:xfrm>
          <a:prstGeom prst="rect">
            <a:avLst/>
          </a:prstGeom>
          <a:solidFill>
            <a:srgbClr val="FFF8E8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4535425" y="416298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</a:rPr>
              <a:t>Stage 1 Key Verdict</a:t>
            </a:r>
            <a:endParaRPr lang="en-US" sz="1100" dirty="0"/>
          </a:p>
        </p:txBody>
      </p:sp>
      <p:sp>
        <p:nvSpPr>
          <p:cNvPr id="89" name="Text 85"/>
          <p:cNvSpPr/>
          <p:nvPr/>
        </p:nvSpPr>
        <p:spPr>
          <a:xfrm>
            <a:off x="4553712" y="4197096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</a:rPr>
              <a:t>11 of 12 routes in CRITICAL risk. </a:t>
            </a:r>
            <a:r>
              <a:rPr lang="en-US" sz="900" dirty="0">
                <a:solidFill>
                  <a:srgbClr val="444444"/>
                </a:solidFill>
              </a:rPr>
              <a:t>City routes systematically overloaded (avg LR 1.16). Route 109 is the sole underutilised route (LR 0.70) — the only available reallocation source within existing fleet. CBD_Downtown's 29% share is unmatched and requires priority infrastructure investment.</a:t>
            </a:r>
            <a:endParaRPr lang="en-US" sz="900" dirty="0"/>
          </a:p>
        </p:txBody>
      </p:sp>
      <p:sp>
        <p:nvSpPr>
          <p:cNvPr id="92" name="Text 88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</a:rPr>
              <a:t>STAGE 2  :  STRUCTURAL BREAK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Metro Phase 2 launched July 1, 2025 — Triggering Four Simultaneous Structural Shifts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57400" cy="2926080"/>
          </a:xfrm>
          <a:prstGeom prst="rect">
            <a:avLst/>
          </a:prstGeom>
          <a:solidFill>
            <a:srgbClr val="1A2E35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5740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 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82176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</a:rPr>
              <a:t>VERDICT: CONFIRMED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52118"/>
            <a:ext cx="18745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</a:rPr>
              <a:t>Express +29.8% · City +2.2%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</a:rPr>
              <a:t>Feeder −23.5% · Intercity −8.2%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</a:rPr>
              <a:t>Permanent new demand equilibrium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2057400" cy="2926080"/>
          </a:xfrm>
          <a:prstGeom prst="rect">
            <a:avLst/>
          </a:prstGeom>
          <a:solidFill>
            <a:srgbClr val="1A2E35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205740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VOLATILITY SHIFT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10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</a:rPr>
              <a:t>VERDICT: PARTIAL</a:t>
            </a:r>
            <a:endParaRPr lang="en-US" sz="1400" b="1" dirty="0"/>
          </a:p>
        </p:txBody>
      </p:sp>
      <p:sp>
        <p:nvSpPr>
          <p:cNvPr id="15" name="Text 13"/>
          <p:cNvSpPr/>
          <p:nvPr/>
        </p:nvSpPr>
        <p:spPr>
          <a:xfrm>
            <a:off x="2560320" y="2340864"/>
            <a:ext cx="18745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Feeder CoV: 30.3%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Intercity CoV: 30.4%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Higher daily uncertainty post-Metro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2057400" cy="2926080"/>
          </a:xfrm>
          <a:prstGeom prst="rect">
            <a:avLst/>
          </a:prstGeom>
          <a:solidFill>
            <a:srgbClr val="1A2E35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205740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ELASTICITY SHIFT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2020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838"/>
                </a:solidFill>
              </a:rPr>
              <a:t>VERDICT: CONFIRMED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340864"/>
            <a:ext cx="18745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Congestion correlation: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 0.137 → 0.26+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Express more sensitive post-Metro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Buses now absorbing MORE overflow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987552"/>
            <a:ext cx="2057400" cy="2926080"/>
          </a:xfrm>
          <a:prstGeom prst="rect">
            <a:avLst/>
          </a:prstGeom>
          <a:solidFill>
            <a:srgbClr val="1A2E35"/>
          </a:solidFill>
          <a:ln w="19050">
            <a:solidFill>
              <a:srgbClr val="00A8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005840"/>
            <a:ext cx="2057400" cy="45720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CONGESTION SHIFT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179855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B5"/>
                </a:solidFill>
              </a:rPr>
              <a:t>VERDICT: PARTIAL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340864"/>
            <a:ext cx="18745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Avg congestion ↑19% (2.5→3.09)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Avg speed ↓9% (32→29 km/h)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Metro construction ≠ road relief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658368"/>
          </a:xfrm>
          <a:prstGeom prst="rect">
            <a:avLst/>
          </a:prstGeom>
          <a:solidFill>
            <a:srgbClr val="1A0A0A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873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REGIME CHANGE CONFIRMED — Express &amp; Feeder routes have permanently shifted. Stage 1 forecasts are INVALID for these segments. City routes remain stable on Stage 1 trajectory.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3776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POST-SHOCK ANALYSIS  :  H1 2025 Baseline vs Q3 2025 Shock — Route-Level Divergence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228860202"/>
              </p:ext>
            </p:extLst>
          </p:nvPr>
        </p:nvGraphicFramePr>
        <p:xfrm>
          <a:off x="182880" y="716046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50581" y="4068901"/>
            <a:ext cx="2023989" cy="903498"/>
          </a:xfrm>
          <a:prstGeom prst="rect">
            <a:avLst/>
          </a:prstGeom>
          <a:solidFill>
            <a:srgbClr val="1A2E35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7180" y="409827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EXPRESS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52024" y="4120251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A017"/>
                </a:solidFill>
              </a:rPr>
              <a:t>+29.8%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4507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X11/X28/X66 surge to 3,094–3,363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Metro Feeder Effect — permanent regime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23159" y="4076112"/>
            <a:ext cx="2023989" cy="889079"/>
          </a:xfrm>
          <a:prstGeom prst="rect">
            <a:avLst/>
          </a:prstGeom>
          <a:solidFill>
            <a:srgbClr val="1A2E3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91740" y="4106007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60420" y="4120251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B5"/>
                </a:solidFill>
              </a:rPr>
              <a:t>+2.2%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14600" y="4507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C01–C04 stable near Stage 1 forecast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No Metro overlap — Stage 1 valid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94860" y="4068902"/>
            <a:ext cx="2011680" cy="903497"/>
          </a:xfrm>
          <a:prstGeom prst="rect">
            <a:avLst/>
          </a:prstGeom>
          <a:solidFill>
            <a:srgbClr val="1A2E35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902" y="4120251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50582" y="4120251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8A838"/>
                </a:solidFill>
              </a:rPr>
              <a:t>−23.5%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23874" y="4532610"/>
            <a:ext cx="19993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F25 contracts −18.2%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CBD routes lost to Metro — structural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46570" y="4068903"/>
            <a:ext cx="2034540" cy="896289"/>
          </a:xfrm>
          <a:prstGeom prst="rect">
            <a:avLst/>
          </a:prstGeom>
          <a:solidFill>
            <a:srgbClr val="1A2E35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41788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INTERCITY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63256" y="4120251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8888"/>
                </a:solidFill>
              </a:rPr>
              <a:t>−8.2%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03720" y="4507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E16/E22 mild decline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Seasonal + Metro mixed effect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46720" y="499719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524" y="-179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838"/>
                </a:solidFill>
              </a:rPr>
              <a:t>STAGE 2  ·  SHIFT CLASSIFICATION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4028" y="247635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Temporary Shock vs. Permanent Regime Change — The Critical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3278" y="691295"/>
            <a:ext cx="416052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74320" y="70162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PERMANENT REGIME CHANGE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3278" y="111732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Routes: Express X11, X28, X66 · Feeder F25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260" y="1391646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750" y="126662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Surge persisted all 3 months of Q3 (Jul→Sep growth +15.2% Express)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4413" y="1766550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" y="1640469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September highest demand month — no reversion to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502" y="2190867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750" y="2044739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Structural cause (Metro feeder effect) is permanent, not seasonal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260" y="2580542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581" y="2487344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F25 dropped −18.2% with no Sep recovery — CBD routes structurally lost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7466" y="2855502"/>
            <a:ext cx="4128867" cy="326786"/>
          </a:xfrm>
          <a:prstGeom prst="rect">
            <a:avLst/>
          </a:prstGeom>
          <a:solidFill>
            <a:srgbClr val="0F2A3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466" y="280729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</a:rPr>
              <a:t>Verdict: REBUILD forecast model for Express + CBD Feeder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5490" y="691295"/>
            <a:ext cx="4119021" cy="420053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6612" y="684393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TEMPORARY / MIXED EFFECT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6990" y="1088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Routes: Intercity E16, E22 · City C01-C04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7376" y="1336804"/>
            <a:ext cx="201168" cy="20116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6924" y="119751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Intercity −8.2% aligns with summer seasonal pattern (historically expected)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5617" y="1696212"/>
            <a:ext cx="201168" cy="20116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153619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No structural Metro overlap on Intercity corridors confirmed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5617" y="2082018"/>
            <a:ext cx="201168" cy="20116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3102" y="1967015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City routes deviate only +2.2% from Stage 1 — within margin of error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5617" y="2483651"/>
            <a:ext cx="201168" cy="20116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3759" y="237744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Q4 seasonal uplift expected to recover Intercity to near-historical levels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7998" y="2824862"/>
            <a:ext cx="4119021" cy="302102"/>
          </a:xfrm>
          <a:prstGeom prst="rect">
            <a:avLst/>
          </a:prstGeom>
          <a:solidFill>
            <a:srgbClr val="0F2A30"/>
          </a:solidFill>
          <a:ln w="12700">
            <a:solidFill>
              <a:srgbClr val="00A8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4866015" y="2837101"/>
            <a:ext cx="4023360" cy="282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B5"/>
                </a:solidFill>
              </a:rPr>
              <a:t>Verdict: Stage 1 model RETAINED for City · Blended for Intercity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254" y="32427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</a:rPr>
              <a:t>Monthly Q3 Progression — Regime vs Temporary Evidence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" y="3583306"/>
            <a:ext cx="1389888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" y="357934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 Type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41348" y="3579349"/>
            <a:ext cx="1389888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9344" y="3557895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July Avg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80825" y="3581724"/>
            <a:ext cx="1363159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48821" y="356769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August Avg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17136" y="3581724"/>
            <a:ext cx="1389888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592184"/>
            <a:ext cx="121404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September Avg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2897" y="3581724"/>
            <a:ext cx="1317439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585767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Trend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99022" y="3581724"/>
            <a:ext cx="1389888" cy="27432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2294" y="356958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92024" y="3923041"/>
            <a:ext cx="1389888" cy="2743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3185" y="392857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City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41348" y="3928579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2018" y="39364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215.6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80825" y="3928579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22444" y="3926295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211.4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17136" y="3928008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60162" y="39364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242.7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53447" y="3934644"/>
            <a:ext cx="131884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6673" y="3933237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+12.6% Jul→Sep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25399" y="3914949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95505" y="391706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Stable Growth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0418" y="4237276"/>
            <a:ext cx="1389888" cy="27432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3139" y="42929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Express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41348" y="4233143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81912" y="4243345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293.3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080825" y="4239475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31236" y="421380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287.9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16785" y="4231694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Text 60"/>
          <p:cNvSpPr/>
          <p:nvPr/>
        </p:nvSpPr>
        <p:spPr>
          <a:xfrm>
            <a:off x="4460162" y="4221363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337.9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961888" y="4239386"/>
            <a:ext cx="1318847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06673" y="423639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+15.2% Jul→Sep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25399" y="4218108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25399" y="423639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REGIME CHANGE ↑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70219" y="4550942"/>
            <a:ext cx="1379689" cy="237744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3139" y="456923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Feeder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632556" y="4534937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52018" y="454680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134.0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072384" y="4542897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48821" y="454680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130.7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16785" y="4542897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60162" y="4534937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151.7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53447" y="4550941"/>
            <a:ext cx="1327288" cy="266539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97880" y="4534937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+13.2% Jul→Sep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325047" y="4530676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99022" y="4525751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Structural Loss (base lower)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70219" y="4835110"/>
            <a:ext cx="1389888" cy="258801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0584" y="4858191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Intercity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641348" y="4841396"/>
            <a:ext cx="1389888" cy="25445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575933" y="483436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147.7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072384" y="4844562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48821" y="483963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146.6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516784" y="4858190"/>
            <a:ext cx="1390239" cy="25049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70713" y="4851947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166.4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953447" y="4846320"/>
            <a:ext cx="1327288" cy="24759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9930" y="4837879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+12.7% Jul→Sep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325399" y="4834362"/>
            <a:ext cx="1389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295505" y="483014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Seasonal Recovery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32356"/>
            <a:ext cx="8229600" cy="38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OPTIMIZATION LOGIC  :  Recalibration Method &amp; Forecast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" y="420624"/>
            <a:ext cx="4304012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" y="42343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Recalibration Decision 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777240"/>
            <a:ext cx="1001268" cy="32004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295" y="784977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 Type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36783" y="777240"/>
            <a:ext cx="1001268" cy="32004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758952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 Used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67593" y="784977"/>
            <a:ext cx="1001268" cy="32004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808541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98402" y="790956"/>
            <a:ext cx="1211935" cy="320040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818036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Reason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" y="1143000"/>
            <a:ext cx="1001268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141593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City (C01–C04)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36783" y="1153551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3876" y="1153551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Stage 1 RETAINED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60207" y="1161288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7593" y="1161288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H1 2025 avg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6537" y="1165507"/>
            <a:ext cx="1211935" cy="3467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0454" y="1147221"/>
            <a:ext cx="1103258" cy="365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33333"/>
                </a:solidFill>
              </a:rPr>
              <a:t>Metro unaffected; +2.2% deviation only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292608" y="1481328"/>
            <a:ext cx="1001268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" y="1472184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Express (X11,X28,X66)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336783" y="1497506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1308" y="1514739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REGIME REBUILD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67593" y="1509815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7593" y="1523531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Q3 2025 avg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6537" y="1545336"/>
            <a:ext cx="121193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2989" y="1535839"/>
            <a:ext cx="1277347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+29.8% permanent shift; feeder effect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9795" y="1835130"/>
            <a:ext cx="1001268" cy="320040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482" y="1833020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Feeder (F12,F18,F25)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321308" y="1843044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9351" y="1838648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REGIME REBUILD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60207" y="1866783"/>
            <a:ext cx="100126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22576" y="1831262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Q3 2025 avg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6537" y="1891401"/>
            <a:ext cx="1204899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2991" y="1902304"/>
            <a:ext cx="1305481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−23.5% permanent; CBD routes lost to Metro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2608" y="2194558"/>
            <a:ext cx="1001268" cy="464235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5681" y="2211441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Intercity (E16,E22)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330452" y="2204056"/>
            <a:ext cx="1001268" cy="46423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8740" y="2204056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BLENDED 80%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76561" y="2216891"/>
            <a:ext cx="1001268" cy="441903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0888" y="2211441"/>
            <a:ext cx="9372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Stage 1 × 0.8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25484" y="2222343"/>
            <a:ext cx="1237604" cy="44594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2989" y="2348601"/>
            <a:ext cx="1315327" cy="195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Mixed: seasonal + mild Metro; Q4 recovery expected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41151" y="293839"/>
            <a:ext cx="3161010" cy="1215976"/>
          </a:xfrm>
          <a:prstGeom prst="rect">
            <a:avLst/>
          </a:prstGeom>
          <a:solidFill>
            <a:srgbClr val="1A0D3A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32000" y="358197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B5"/>
                </a:solidFill>
              </a:rPr>
              <a:t>Forecast Formula (Excel / Power BI DAX)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88630" y="541166"/>
            <a:ext cx="31610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 Forecast = </a:t>
            </a:r>
            <a:r>
              <a:rPr lang="en-US" sz="1000" b="1" dirty="0">
                <a:solidFill>
                  <a:srgbClr val="F5C842"/>
                </a:solidFill>
              </a:rPr>
              <a:t>Q3 Actual Daily Avg</a:t>
            </a:r>
            <a:r>
              <a:rPr lang="en-US" sz="1000" dirty="0">
                <a:solidFill>
                  <a:srgbClr val="DDDDDD"/>
                </a:solidFill>
              </a:rPr>
              <a:t> × (1 + Seasonal Index)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88630" y="74980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</a:rPr>
              <a:t>Seasonal Index  →  Oct: 0.960  ·  Nov: 1.072  ·  Dec: 1.133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69286" y="1228461"/>
            <a:ext cx="29032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77777"/>
                </a:solidFill>
              </a:rPr>
              <a:t>Source: 2022–2024 monthly averages (Stage 1 validated)</a:t>
            </a:r>
            <a:endParaRPr lang="en-US" sz="800" dirty="0"/>
          </a:p>
        </p:txBody>
      </p:sp>
      <p:graphicFrame>
        <p:nvGraphicFramePr>
          <p:cNvPr id="51" name="Chart 0"/>
          <p:cNvGraphicFramePr/>
          <p:nvPr>
            <p:extLst>
              <p:ext uri="{D42A27DB-BD31-4B8C-83A1-F6EECF244321}">
                <p14:modId xmlns:p14="http://schemas.microsoft.com/office/powerpoint/2010/main" val="1293604517"/>
              </p:ext>
            </p:extLst>
          </p:nvPr>
        </p:nvGraphicFramePr>
        <p:xfrm>
          <a:off x="56271" y="2850466"/>
          <a:ext cx="8904849" cy="2095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Text 51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838"/>
                </a:solidFill>
              </a:rPr>
              <a:t>STAGE 3  :  OUT-OF-TIME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Q4 2025 Actuals vs Stage 2 Recalibrated Forecast — Accountability Audit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005840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192024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CC71"/>
                </a:solidFill>
              </a:rPr>
              <a:t>1.1%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Express MAPE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7702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ACCURATE — Regime confirmed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005840"/>
            <a:ext cx="1920240" cy="1005840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078992"/>
            <a:ext cx="192024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</a:rPr>
              <a:t>9.3%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1508760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Feeder MAPE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17702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Underreaction: Q4 partial recovery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005840"/>
            <a:ext cx="1920240" cy="1005840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078992"/>
            <a:ext cx="192024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</a:rPr>
              <a:t>14.0%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1508760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City Underreact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0" y="177027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Q4 seasonal beat Q3 base by 14%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005840"/>
            <a:ext cx="2423160" cy="1005840"/>
          </a:xfrm>
          <a:prstGeom prst="rect">
            <a:avLst/>
          </a:prstGeom>
          <a:solidFill>
            <a:srgbClr val="0F2A30"/>
          </a:solidFill>
          <a:ln w="12700">
            <a:solidFill>
              <a:srgbClr val="0F2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078992"/>
            <a:ext cx="242316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B5"/>
                </a:solidFill>
              </a:rPr>
              <a:t>9.33%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24231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Network MAPE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177027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Avg across all 12 routes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1650738021"/>
              </p:ext>
            </p:extLst>
          </p:nvPr>
        </p:nvGraphicFramePr>
        <p:xfrm>
          <a:off x="182880" y="2093062"/>
          <a:ext cx="8595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572000"/>
            <a:ext cx="20116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581144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CC71"/>
                </a:solidFill>
              </a:rPr>
              <a:t>Express -1.1% — ACCURATE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468880" y="4572000"/>
            <a:ext cx="20116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87168" y="4581144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A838"/>
                </a:solidFill>
              </a:rPr>
              <a:t>City +14.0% — UNDERREACTION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663440" y="4572000"/>
            <a:ext cx="20116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1728" y="4581144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A838"/>
                </a:solidFill>
              </a:rPr>
              <a:t>Feeder +9.3% — UNDERREACTION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858000" y="4572000"/>
            <a:ext cx="20116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76288" y="4581144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A838"/>
                </a:solidFill>
              </a:rPr>
              <a:t>Intercity +12.3% — UNDERREACTION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-4220"/>
            <a:ext cx="8229600" cy="47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STAGE 3  ·  Q4 Monthly Forecast Validation — October, November, December 2025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91581748"/>
              </p:ext>
            </p:extLst>
          </p:nvPr>
        </p:nvGraphicFramePr>
        <p:xfrm>
          <a:off x="227193" y="398116"/>
          <a:ext cx="85039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88204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3379060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 Type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170432" y="3401568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341985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Oct Forecast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48256" y="3405788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20824" y="3432165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Oct Actual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898648" y="3405788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07792" y="339664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Oct Error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49040" y="3399458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58184" y="339664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Nov Forecast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99432" y="3406140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341106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Nov Actual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49824" y="3419856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341774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Nov Error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00216" y="3413877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341774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Dec Forecast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151311" y="3413877"/>
            <a:ext cx="822960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23176" y="3425131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Dec Actual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001000" y="3413877"/>
            <a:ext cx="795528" cy="28346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74271" y="341774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Dec Error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3697341"/>
            <a:ext cx="822960" cy="283464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6185" y="3704375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</a:rPr>
              <a:t>Express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170432" y="3712464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0432" y="3740247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3,134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042629" y="373004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02536" y="373321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3,047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907792" y="3733213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62072" y="375255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−2.7%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767328" y="373426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21608" y="3740247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3,499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626864" y="3729344"/>
            <a:ext cx="795528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53712" y="3752909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3,306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77256" y="373426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31536" y="373321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−5.5%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336792" y="3734268"/>
            <a:ext cx="7863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36792" y="3722311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3,698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68896" y="3729344"/>
            <a:ext cx="78638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14032" y="373321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3,336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991856" y="3728994"/>
            <a:ext cx="8046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40157" y="373321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−9.8%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68166" y="4029339"/>
            <a:ext cx="822960" cy="283464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2868" y="4029690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</a:rPr>
              <a:t>City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150562" y="40272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130691" y="4045516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2,944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028385" y="4045516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028387" y="405958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3,261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2898648" y="4056065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892495" y="4067322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A838"/>
                </a:solidFill>
              </a:rPr>
              <a:t>+10.8%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767328" y="40483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765745" y="4087719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3,287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626864" y="40483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36008" y="4052548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3,594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495544" y="4056065"/>
            <a:ext cx="7772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87455" y="4052548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A838"/>
                </a:solidFill>
              </a:rPr>
              <a:t>+9.3%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18504" y="4056065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09360" y="405958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3,475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187184" y="4041295"/>
            <a:ext cx="787087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181205" y="403285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3,643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8001000" y="40483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001000" y="405325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+4.9%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252868" y="4342345"/>
            <a:ext cx="822960" cy="283464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46185" y="4342345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</a:rPr>
              <a:t>Feeder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150562" y="4357466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150562" y="4347619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1,864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020824" y="4357466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020824" y="4347619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1,976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2874206" y="4369599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862072" y="437575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+6.0%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3767328" y="4369599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749040" y="4375754"/>
            <a:ext cx="75895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2,081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636008" y="4376459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31436" y="437962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2,117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5504688" y="4369599"/>
            <a:ext cx="741719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481828" y="437962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+1.7%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6311646" y="4369599"/>
            <a:ext cx="829818" cy="29911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327648" y="4389822"/>
            <a:ext cx="8412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2,200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7158169" y="4354302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165203" y="4364150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2,264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8021046" y="4363092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991856" y="4351488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+2.9%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246185" y="4667660"/>
            <a:ext cx="822960" cy="283464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46185" y="471830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</a:rPr>
              <a:t>Intercity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1143000" y="46817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1130691" y="466027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1,768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2002536" y="4678561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002536" y="4679968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1,934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884932" y="4683133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2871216" y="468911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A838"/>
                </a:solidFill>
              </a:rPr>
              <a:t>+9.4%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758184" y="4704940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749040" y="470177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1,974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4608576" y="4704590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4608576" y="4694737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2,131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5465298" y="4709863"/>
            <a:ext cx="80748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5487455" y="470177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A838"/>
                </a:solidFill>
              </a:rPr>
              <a:t>+7.9%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6311646" y="4718304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300216" y="4708810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2,086</a:t>
            </a: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7178040" y="4704590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7144629" y="4701774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</a:rPr>
              <a:t>2,144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8046720" y="4681728"/>
            <a:ext cx="822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991856" y="4668363"/>
            <a:ext cx="75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8B5"/>
                </a:solidFill>
              </a:rPr>
              <a:t>+2.8%</a:t>
            </a:r>
            <a:endParaRPr lang="en-US" sz="850" dirty="0"/>
          </a:p>
        </p:txBody>
      </p:sp>
      <p:sp>
        <p:nvSpPr>
          <p:cNvPr id="107" name="Text 104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B5"/>
                </a:solidFill>
              </a:rPr>
              <a:t>CONGESTION INTELLIGENCE  :  Q3 → Q4 Traffic Regime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443345" y="470916"/>
            <a:ext cx="6547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Congestion Peaked in Q3, Partially Normalised in Q4 — But Speed Still Suppressed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294006176"/>
              </p:ext>
            </p:extLst>
          </p:nvPr>
        </p:nvGraphicFramePr>
        <p:xfrm>
          <a:off x="211016" y="905256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045021530"/>
              </p:ext>
            </p:extLst>
          </p:nvPr>
        </p:nvGraphicFramePr>
        <p:xfrm>
          <a:off x="5343613" y="832104"/>
          <a:ext cx="3429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57600"/>
            <a:ext cx="2011680" cy="1097280"/>
          </a:xfrm>
          <a:prstGeom prst="rect">
            <a:avLst/>
          </a:prstGeom>
          <a:solidFill>
            <a:srgbClr val="0F2A30"/>
          </a:solidFill>
          <a:ln w="1524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274320" y="3497580"/>
            <a:ext cx="201168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42316" y="3493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Q3 Peak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42316" y="3977640"/>
            <a:ext cx="207568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Sep congestion 3.47 — worst month. Metro construction + Express bus surge combined to worsen traffic despite Metro launch.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68880" y="3657600"/>
            <a:ext cx="2011680" cy="1097280"/>
          </a:xfrm>
          <a:prstGeom prst="rect">
            <a:avLst/>
          </a:prstGeom>
          <a:solidFill>
            <a:srgbClr val="0F2A30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68880" y="3483864"/>
            <a:ext cx="201168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36876" y="34518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Q4 Partial Relief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32888" y="3977640"/>
            <a:ext cx="18928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Q4 avg drops to 2.83 — partial normalisation as Metro adoption matures and Express demand stabilises.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3657600"/>
            <a:ext cx="2011680" cy="1097280"/>
          </a:xfrm>
          <a:prstGeom prst="rect">
            <a:avLst/>
          </a:prstGeom>
          <a:solidFill>
            <a:srgbClr val="0F2A30"/>
          </a:solidFill>
          <a:ln w="15240">
            <a:solidFill>
              <a:srgbClr val="00A8B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63440" y="3493008"/>
            <a:ext cx="2011680" cy="2926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31436" y="349089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Speed Floor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27448" y="3977640"/>
            <a:ext cx="18928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Speed remains at 30–31 km/h in Q4, below the H1 32 km/h baseline. Structural suppression persists.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58000" y="3657600"/>
            <a:ext cx="2011680" cy="1097280"/>
          </a:xfrm>
          <a:prstGeom prst="rect">
            <a:avLst/>
          </a:prstGeom>
          <a:solidFill>
            <a:srgbClr val="0F2A30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0" y="3490898"/>
            <a:ext cx="2011680" cy="2926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25996" y="348175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Implication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922008" y="3977640"/>
            <a:ext cx="189280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Dedicated bus lanes (13 km planned 2026) remain critical. Speed recovery will unlock +10–15% effective capacity.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3278" y="640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OPTIMIZATION  ·  Fleet Reallocation Strategy — Zero-Procurement Capacity Injection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3278" y="482346"/>
            <a:ext cx="8503920" cy="548640"/>
          </a:xfrm>
          <a:prstGeom prst="rect">
            <a:avLst/>
          </a:prstGeom>
          <a:solidFill>
            <a:srgbClr val="1A2E3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54406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B5"/>
                </a:solidFill>
              </a:rPr>
              <a:t>Core Principle: Free underutilised capacity from Feeder/Intercity routes → Redeploy to Express. Cost-neutral. Immediate.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1785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</a:rPr>
              <a:t>FROM (Releasing)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66681" y="1652778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A8B5"/>
                </a:solidFill>
              </a:rPr>
              <a:t>→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68596" y="108127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C71"/>
                </a:solidFill>
              </a:rPr>
              <a:t>TO (Receiving)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6991" y="135788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991" y="136474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F25 (Feeder)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" y="1589913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A017"/>
                </a:solidFill>
              </a:rPr>
              <a:t>Release: 2–3 buses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84832" y="1407604"/>
            <a:ext cx="1645920" cy="364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−18.2% CBD demand lost to Metro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1979676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195681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E16 (Intercity)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19702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838"/>
                </a:solidFill>
              </a:rPr>
              <a:t>Release: 1–2 buses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84832" y="1949431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−7.8% demand; low utilisation Q3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593027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256260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E22 (Intercity)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7980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838"/>
                </a:solidFill>
              </a:rPr>
              <a:t>Release: 1 bus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57400" y="261289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−8.6% demand; mild contraction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3955" y="3182112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1049" y="3178243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F12/F18 (Feeder)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410009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Release: 0–1 buses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96789" y="317507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Stable but lower base; weekend slack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1358015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136474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X11 Express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1647063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</a:rPr>
              <a:t>Add: 2 buses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0" y="1357884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+40% peak capacity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1950661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193237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X28 Express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88020" y="218198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CC71"/>
                </a:solidFill>
              </a:rPr>
              <a:t>Add: 1–2 buses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04888" y="195681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+40% peak capacity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2106" y="2542032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74920" y="258001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X66 Express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2859961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8B5"/>
                </a:solidFill>
              </a:rPr>
              <a:t>Add: 1 bus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50608" y="256260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B5"/>
                </a:solidFill>
              </a:rPr>
              <a:t>+25% peak capacity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42300" y="3141316"/>
            <a:ext cx="3749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42300" y="3099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35"/>
                </a:solidFill>
              </a:rPr>
              <a:t>Volatility Reserve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47048" y="339418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C842"/>
                </a:solidFill>
              </a:rPr>
              <a:t>Add: 0–1 bus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50608" y="3132875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842"/>
                </a:solidFill>
              </a:rPr>
              <a:t>Weekly flexible buffer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3769" y="3690834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Headway Revision Schedule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92608" y="3915301"/>
            <a:ext cx="2098548" cy="209037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915918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46020" y="3915301"/>
            <a:ext cx="2098548" cy="231149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53173" y="3926995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Current Headway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99432" y="3908707"/>
            <a:ext cx="2098548" cy="237744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1721" y="3925941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Revised Headway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52844" y="3908707"/>
            <a:ext cx="2098548" cy="215631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9997" y="3925941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01049" y="4181732"/>
            <a:ext cx="2098548" cy="195958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6254" y="4158234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X11, X28 Express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85234" y="4172829"/>
            <a:ext cx="2034540" cy="19595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01405" y="4179929"/>
            <a:ext cx="1250090" cy="172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15 min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08576" y="4154015"/>
            <a:ext cx="2098548" cy="2147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9913" y="4164038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8–10 min peak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52844" y="4168191"/>
            <a:ext cx="2090107" cy="146545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81628" y="4144452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P1 — Urgent before November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01049" y="4410047"/>
            <a:ext cx="2098548" cy="189385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8633" y="4424048"/>
            <a:ext cx="2034540" cy="182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X66 Express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453230" y="4417959"/>
            <a:ext cx="209854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58977" y="4419341"/>
            <a:ext cx="2034540" cy="195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15 min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19656" y="4408046"/>
            <a:ext cx="2034540" cy="18822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92224" y="4369777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10–12 min peak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697980" y="4372239"/>
            <a:ext cx="2098548" cy="193715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82331" y="4356061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P1 — Q4 peak buffer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02983" y="4647262"/>
            <a:ext cx="2098548" cy="189385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049" y="4614840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F25 Feeder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449712" y="4674243"/>
            <a:ext cx="2102066" cy="19785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56514" y="4649613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20 min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00312" y="4618071"/>
            <a:ext cx="2042804" cy="193255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51778" y="4623874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30–35 min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697980" y="4618710"/>
            <a:ext cx="2098548" cy="217937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15565" y="4614840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P2 — Frees 2–3 buses for Express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05797" y="4882544"/>
            <a:ext cx="2098548" cy="18938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8633" y="4892040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E16 Intercity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446020" y="4905645"/>
            <a:ext cx="2071116" cy="18938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56514" y="4882544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30 min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588354" y="4836647"/>
            <a:ext cx="2042804" cy="229129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0" y="4882544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45–60 min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692001" y="4872093"/>
            <a:ext cx="2098548" cy="207399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4005" y="4863442"/>
            <a:ext cx="20345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P2 — Frees 1–2 buses; low utilisation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FINAL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AAAA"/>
                </a:solidFill>
              </a:rPr>
              <a:t>5 Strategic Imperatives for Dubai RTA  ·  Immediate to Long-Term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80694"/>
            <a:ext cx="8595360" cy="713232"/>
          </a:xfrm>
          <a:prstGeom prst="rect">
            <a:avLst/>
          </a:prstGeom>
          <a:solidFill>
            <a:srgbClr val="1A2E35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512064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512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042416"/>
            <a:ext cx="77724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65008" y="105156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STRATEGIC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32104" y="968561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Accept the Regime Change — Immediately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19786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Metro Phase 2 is permanent. Rebase ALL planning models on post-July 2025 data. Stage 1 historical patterns no longer apply to Express or Feeder segments.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A017"/>
                </a:solidFill>
              </a:rPr>
              <a:t>Model rebase complete by 31 Oct 2025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8595360" cy="713232"/>
          </a:xfrm>
          <a:prstGeom prst="rect">
            <a:avLst/>
          </a:prstGeom>
          <a:solidFill>
            <a:srgbClr val="1A2E35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92224"/>
            <a:ext cx="512064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92224"/>
            <a:ext cx="512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847088"/>
            <a:ext cx="77724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18562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URGENT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50392" y="17510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Relieve Express Overload — Before November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257" y="199339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Deploy freed Feeder/Intercity buses to X11, X28, X66. Reduce Express headway to 8–10 min in peak. Prevent Dec 2025 service failure (MAPE 1.1% confirms forecast accuracy).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A017"/>
                </a:solidFill>
              </a:rPr>
              <a:t>Fleet redeploy: October 2025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8595360" cy="713232"/>
          </a:xfrm>
          <a:prstGeom prst="rect">
            <a:avLst/>
          </a:prstGeom>
          <a:solidFill>
            <a:srgbClr val="1A2E35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96896"/>
            <a:ext cx="512064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96896"/>
            <a:ext cx="512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2651760"/>
            <a:ext cx="7772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266090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Q4 2025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32104" y="25786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Redesign Feeder Routes as Metro Connectors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" y="279806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F25's CBD role is obsolete. Redesign as Metro interchange connector. F12/F18 (non-CBD) remain viable — maintain with reduced weekend frequency.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163824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8A838"/>
                </a:solidFill>
              </a:rPr>
              <a:t>Route redesign by Jan 2026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01752" y="3409305"/>
            <a:ext cx="8595360" cy="713232"/>
          </a:xfrm>
          <a:prstGeom prst="rect">
            <a:avLst/>
          </a:prstGeom>
          <a:solidFill>
            <a:srgbClr val="1A2E35"/>
          </a:solidFill>
          <a:ln w="15240">
            <a:solidFill>
              <a:srgbClr val="00A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01568"/>
            <a:ext cx="512064" cy="71323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01568"/>
            <a:ext cx="512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6720" y="3456432"/>
            <a:ext cx="777240" cy="2743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346557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Q4 2025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831401" y="33695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Prioritise CBD_BusinessBay Infrastructure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360115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+16.4% growth in Q3 — fastest growing zone. New Metro station creating Express feeder demand. Upgrade stops, increase X11/X28 frequency at BusinessBay.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3968496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0A8B5"/>
                </a:solidFill>
              </a:rPr>
              <a:t>Infrastructure Q4–Q1 2026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198327"/>
            <a:ext cx="8595360" cy="713232"/>
          </a:xfrm>
          <a:prstGeom prst="rect">
            <a:avLst/>
          </a:prstGeom>
          <a:solidFill>
            <a:srgbClr val="1A2E35"/>
          </a:solidFill>
          <a:ln w="15240">
            <a:solidFill>
              <a:srgbClr val="00A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06240"/>
            <a:ext cx="512064" cy="71323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206240"/>
            <a:ext cx="512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4261104"/>
            <a:ext cx="777240" cy="2743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5008" y="42702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STRATEGIC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86384" y="418777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Commit to 13 km Dedicated Bus Lanes by 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" y="439826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Speed floor at 30–31 km/h limits effective capacity. Dedicated lanes will break the congestion ceiling, delivering +10–15% capacity without new buses.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" y="4773168"/>
            <a:ext cx="71323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0A8B5"/>
                </a:solidFill>
              </a:rPr>
              <a:t>Advocacy + planning 2025–2026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8248" y="264825"/>
            <a:ext cx="4380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RISK &amp; SENSITIVITY  ·  What Could Break the Plan?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80115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Risk Register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98548" cy="402336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18872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Risk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46020" y="1170432"/>
            <a:ext cx="2098548" cy="402336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2596" y="118872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Probability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2098548" cy="402336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18872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697980" y="1170432"/>
            <a:ext cx="2098548" cy="402336"/>
          </a:xfrm>
          <a:prstGeom prst="rect">
            <a:avLst/>
          </a:prstGeom>
          <a:solidFill>
            <a:srgbClr val="1A2E3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4556" y="118872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Mitigation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591056"/>
            <a:ext cx="2098548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609344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Express demand decays in Q4 (Metro adoption overshoots)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46020" y="1591056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2596" y="1609344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LOW — Q4 actual confirms +1.1% MAPE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591056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609344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HIGH — Fleet surplus wasted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97980" y="1591056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4556" y="1609344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Retain weekly route monitoring vs. forecast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2098548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029968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City demand continues beating Stage 2 by 14%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46020" y="2011680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2596" y="2029968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MEDIUM — Seasonal uplift continuing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011680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2029968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HIGH — Overload materialises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97980" y="2011680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4556" y="2029968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Activate Volatility Reserve buffer fleet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432304"/>
            <a:ext cx="2098548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2450592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F25 Feeder demand fails to recover (further Metro shift)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46020" y="2432304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2596" y="2450592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MEDIUM — Q3 trend established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432304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2450592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MEDIUM — Route becomes unviable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97980" y="2432304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4556" y="2450592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Redesign as Metro connector; reduce to demand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852928"/>
            <a:ext cx="2098548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2871216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Congestion remains elevated (dedicated lanes delayed)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46020" y="2852928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2596" y="2871216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MEDIUM — 13km lanes not 2025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2852928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08576" y="2871216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HIGH — Speed floor persists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97980" y="2852928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4556" y="2871216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Prioritise Express corridor in interim lane plan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273552"/>
            <a:ext cx="2098548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329184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33333"/>
                </a:solidFill>
              </a:rPr>
              <a:t>Stage 3 Board Directive overrides allocations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46020" y="3273552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2596" y="329184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CERTAIN — Directive issued 1 Mar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3273552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08576" y="329184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VARIABLE — Depends on constraint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97980" y="3273552"/>
            <a:ext cx="209854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34556" y="3291840"/>
            <a:ext cx="2034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33333"/>
                </a:solidFill>
              </a:rPr>
              <a:t>Build 15% flex buffer into all Q4 allocations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28248" y="3689033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</a:rPr>
              <a:t>Sensitivity Analysis — Dec 2025 Forecast</a:t>
            </a:r>
            <a:endParaRPr lang="en-US" sz="1400" dirty="0"/>
          </a:p>
        </p:txBody>
      </p:sp>
      <p:graphicFrame>
        <p:nvGraphicFramePr>
          <p:cNvPr id="54" name="Chart 0"/>
          <p:cNvGraphicFramePr/>
          <p:nvPr>
            <p:extLst>
              <p:ext uri="{D42A27DB-BD31-4B8C-83A1-F6EECF244321}">
                <p14:modId xmlns:p14="http://schemas.microsoft.com/office/powerpoint/2010/main" val="4288565760"/>
              </p:ext>
            </p:extLst>
          </p:nvPr>
        </p:nvGraphicFramePr>
        <p:xfrm>
          <a:off x="439966" y="3954780"/>
          <a:ext cx="6987776" cy="1158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hape 52"/>
          <p:cNvSpPr/>
          <p:nvPr/>
        </p:nvSpPr>
        <p:spPr>
          <a:xfrm>
            <a:off x="5212081" y="58425"/>
            <a:ext cx="3749039" cy="1003466"/>
          </a:xfrm>
          <a:prstGeom prst="rect">
            <a:avLst/>
          </a:prstGeom>
          <a:solidFill>
            <a:srgbClr val="1A2E35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300003" y="10269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Highest Risk: City Underreaction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300002" y="329184"/>
            <a:ext cx="3432518" cy="650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Q4 City actuals beat Stage 2 forecast by 14%. In Bull Case, C01 and C03 breach 4,000 daily Pax — approaching severe overload. Pre-position 1–2 additional buses on City routes for Nov–Dec.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92025" cy="5111496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-738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30632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</a:rPr>
              <a:t>Three Stages. One Consistent Reasoning Thread.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672788"/>
            <a:ext cx="8321040" cy="822960"/>
          </a:xfrm>
          <a:prstGeom prst="rect">
            <a:avLst/>
          </a:prstGeom>
          <a:solidFill>
            <a:srgbClr val="1A2E35"/>
          </a:solidFill>
          <a:ln w="19050">
            <a:solidFill>
              <a:srgbClr val="00A8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79997"/>
            <a:ext cx="1097280" cy="82296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29184" y="65555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978495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Analytical 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45336" y="679997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Diagnosed a healthy but strained network: </a:t>
            </a:r>
            <a:r>
              <a:rPr lang="en-US" sz="1200" dirty="0">
                <a:solidFill>
                  <a:srgbClr val="00B050"/>
                </a:solidFill>
              </a:rPr>
              <a:t>36%</a:t>
            </a:r>
            <a:r>
              <a:rPr lang="en-US" sz="1200" dirty="0">
                <a:solidFill>
                  <a:srgbClr val="CCCCCC"/>
                </a:solidFill>
              </a:rPr>
              <a:t> growth, </a:t>
            </a:r>
            <a:r>
              <a:rPr lang="en-US" sz="1200" dirty="0">
                <a:solidFill>
                  <a:srgbClr val="00B050"/>
                </a:solidFill>
              </a:rPr>
              <a:t>11/12</a:t>
            </a:r>
            <a:r>
              <a:rPr lang="en-US" sz="1200" dirty="0">
                <a:solidFill>
                  <a:srgbClr val="CCCCCC"/>
                </a:solidFill>
              </a:rPr>
              <a:t> routes critical, CBD_Downtown dominant at </a:t>
            </a:r>
            <a:r>
              <a:rPr lang="en-US" sz="1200" dirty="0">
                <a:solidFill>
                  <a:srgbClr val="00B050"/>
                </a:solidFill>
              </a:rPr>
              <a:t>29%, </a:t>
            </a:r>
            <a:r>
              <a:rPr lang="en-US" sz="1200" dirty="0">
                <a:solidFill>
                  <a:srgbClr val="CCCCCC"/>
                </a:solidFill>
              </a:rPr>
              <a:t>seasonal index quantified, congestion elasticity confirmed at </a:t>
            </a:r>
            <a:r>
              <a:rPr lang="en-US" sz="1200" dirty="0">
                <a:solidFill>
                  <a:srgbClr val="00B050"/>
                </a:solidFill>
              </a:rPr>
              <a:t>+0.137</a:t>
            </a:r>
            <a:r>
              <a:rPr lang="en-US" sz="1200" dirty="0">
                <a:solidFill>
                  <a:srgbClr val="CCCCCC"/>
                </a:solidFill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605826"/>
            <a:ext cx="8321040" cy="822960"/>
          </a:xfrm>
          <a:prstGeom prst="rect">
            <a:avLst/>
          </a:prstGeom>
          <a:solidFill>
            <a:srgbClr val="1A2E35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913" y="1605826"/>
            <a:ext cx="1097280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329184" y="154920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8421" y="188120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Recalibration Discipline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2124" y="1636601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Metro Phase 2 triggered a confirmed regime change in Express </a:t>
            </a:r>
            <a:r>
              <a:rPr lang="en-US" sz="1200" dirty="0">
                <a:solidFill>
                  <a:srgbClr val="00B050"/>
                </a:solidFill>
              </a:rPr>
              <a:t>(+29.8%) </a:t>
            </a:r>
            <a:r>
              <a:rPr lang="en-US" sz="1200" dirty="0">
                <a:solidFill>
                  <a:srgbClr val="CCCCCC"/>
                </a:solidFill>
              </a:rPr>
              <a:t>and Feeder (</a:t>
            </a:r>
            <a:r>
              <a:rPr lang="en-US" sz="1200" dirty="0">
                <a:solidFill>
                  <a:srgbClr val="FF0000"/>
                </a:solidFill>
              </a:rPr>
              <a:t>−23.5%). </a:t>
            </a:r>
            <a:r>
              <a:rPr lang="en-US" sz="1200" dirty="0">
                <a:solidFill>
                  <a:srgbClr val="CCCCCC"/>
                </a:solidFill>
              </a:rPr>
              <a:t>Rebuilt forecast using Q3 actuals as new base. Fleet reallocation strategy proposed at zero procurement cost.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5913" y="2538864"/>
            <a:ext cx="8321040" cy="822960"/>
          </a:xfrm>
          <a:prstGeom prst="rect">
            <a:avLst/>
          </a:prstGeom>
          <a:solidFill>
            <a:srgbClr val="1A2E35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4353" y="2535525"/>
            <a:ext cx="1097280" cy="822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48189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" y="2805801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Structural Judgment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2124" y="2542381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Q4 validation confirmed Express forecast accuracy (MAPE </a:t>
            </a:r>
            <a:r>
              <a:rPr lang="en-US" sz="1200" dirty="0">
                <a:solidFill>
                  <a:schemeClr val="bg1"/>
                </a:solidFill>
              </a:rPr>
              <a:t>1.1%). </a:t>
            </a:r>
            <a:r>
              <a:rPr lang="en-US" sz="1200" dirty="0">
                <a:solidFill>
                  <a:srgbClr val="CCCCCC"/>
                </a:solidFill>
              </a:rPr>
              <a:t>City underreacted by 14% — seasonal uplift exceeded model. Network MAPE 9.3%. All insights traceable to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465224"/>
            <a:ext cx="8321040" cy="557786"/>
          </a:xfrm>
          <a:prstGeom prst="rect">
            <a:avLst/>
          </a:prstGeom>
          <a:solidFill>
            <a:srgbClr val="0F2A3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274320" y="3449927"/>
            <a:ext cx="8229600" cy="611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The Metro Phase 2 shock is not a crisis — it is a structural opportunity. The bus network, properly reconfigured around Metro, becomes the essential last-mile connector that serves passengers where Metro cannot reach. This analysis provides RTA with the complete playbook to make that transition.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96519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15 / 15</a:t>
            </a:r>
            <a:endParaRPr lang="en-US" sz="7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C52A3-2E89-6D29-C729-8A0A1AE37BE3}"/>
              </a:ext>
            </a:extLst>
          </p:cNvPr>
          <p:cNvSpPr txBox="1"/>
          <p:nvPr/>
        </p:nvSpPr>
        <p:spPr>
          <a:xfrm>
            <a:off x="3382370" y="4204734"/>
            <a:ext cx="2013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THANKS 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724DE6-EE38-E065-C10D-35C7BC8D3FF3}"/>
              </a:ext>
            </a:extLst>
          </p:cNvPr>
          <p:cNvSpPr txBox="1"/>
          <p:nvPr/>
        </p:nvSpPr>
        <p:spPr>
          <a:xfrm>
            <a:off x="6904632" y="4559284"/>
            <a:ext cx="1927066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Open for ANY </a:t>
            </a:r>
            <a:r>
              <a:rPr lang="en-IN" dirty="0" err="1">
                <a:solidFill>
                  <a:schemeClr val="bg1"/>
                </a:solidFill>
              </a:rPr>
              <a:t>QnA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2392</Words>
  <Application>Microsoft Office PowerPoint</Application>
  <PresentationFormat>On-screen Show (16:9)</PresentationFormat>
  <Paragraphs>521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 Shift – Complete Case Analysis</dc:title>
  <dc:subject>PptxGenJS Presentation</dc:subject>
  <dc:creator>NLD Synapse</dc:creator>
  <cp:lastModifiedBy>Shreyash Gaikwad</cp:lastModifiedBy>
  <cp:revision>4</cp:revision>
  <dcterms:created xsi:type="dcterms:W3CDTF">2026-02-28T23:39:12Z</dcterms:created>
  <dcterms:modified xsi:type="dcterms:W3CDTF">2026-03-01T02:42:33Z</dcterms:modified>
</cp:coreProperties>
</file>